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3.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F5596"/>
        </a:solidFill>
      </p:bgPr>
    </p:bg>
    <p:spTree>
      <p:nvGrpSpPr>
        <p:cNvPr id="1" name=""/>
        <p:cNvGrpSpPr/>
        <p:nvPr/>
      </p:nvGrpSpPr>
      <p:grpSpPr>
        <a:xfrm>
          <a:off x="0" y="0"/>
          <a:ext cx="0" cy="0"/>
          <a:chOff x="0" y="0"/>
          <a:chExt cx="0" cy="0"/>
        </a:xfrm>
      </p:grpSpPr>
      <p:pic>
        <p:nvPicPr>
          <p:cNvPr id="2" name="Image 0" descr="logo_big.png">    </p:cNvPr>
          <p:cNvPicPr>
            <a:picLocks noChangeAspect="1"/>
          </p:cNvPicPr>
          <p:nvPr/>
        </p:nvPicPr>
        <p:blipFill>
          <a:blip r:embed="rId1"/>
          <a:stretch>
            <a:fillRect/>
          </a:stretch>
        </p:blipFill>
        <p:spPr>
          <a:xfrm>
            <a:off x="640080" y="502920"/>
            <a:ext cx="1051560" cy="1051560"/>
          </a:xfrm>
          <a:prstGeom prst="rect">
            <a:avLst/>
          </a:prstGeom>
        </p:spPr>
      </p:pic>
      <p:sp>
        <p:nvSpPr>
          <p:cNvPr id="3" name="Text 0"/>
          <p:cNvSpPr/>
          <p:nvPr/>
        </p:nvSpPr>
        <p:spPr>
          <a:xfrm>
            <a:off x="1874520" y="502920"/>
            <a:ext cx="9677095" cy="1051560"/>
          </a:xfrm>
          <a:prstGeom prst="rect">
            <a:avLst/>
          </a:prstGeom>
          <a:noFill/>
          <a:ln/>
        </p:spPr>
        <p:txBody>
          <a:bodyPr wrap="square" lIns="0" tIns="0" rIns="0" bIns="0" rtlCol="0" anchor="ctr"/>
          <a:lstStyle/>
          <a:p>
            <a:pPr algn="l" indent="0" marL="0">
              <a:lnSpc>
                <a:spcPct val="120000"/>
              </a:lnSpc>
              <a:buNone/>
            </a:pPr>
            <a:r>
              <a:rPr lang="en-US" sz="1550" b="1" dirty="0">
                <a:solidFill>
                  <a:srgbClr val="B1DEE4"/>
                </a:solidFill>
                <a:latin typeface="Times New Roman" pitchFamily="34" charset="0"/>
                <a:ea typeface="Times New Roman" pitchFamily="34" charset="-122"/>
                <a:cs typeface="Times New Roman" pitchFamily="34" charset="-120"/>
              </a:rPr>
              <a:t>ĐẠI HỌC CẦN THƠ
</a:t>
            </a:r>
            <a:pPr algn="l" indent="0" marL="0">
              <a:lnSpc>
                <a:spcPct val="120000"/>
              </a:lnSpc>
              <a:buNone/>
            </a:pPr>
            <a:r>
              <a:rPr lang="en-US" sz="1550" b="1" dirty="0">
                <a:solidFill>
                  <a:srgbClr val="B1DEE4"/>
                </a:solidFill>
                <a:latin typeface="Times New Roman" pitchFamily="34" charset="0"/>
                <a:ea typeface="Times New Roman" pitchFamily="34" charset="-122"/>
                <a:cs typeface="Times New Roman" pitchFamily="34" charset="-120"/>
              </a:rPr>
              <a:t>TRƯỜNG CÔNG NGHỆ THÔNG TIN &amp; TRUYỀN THÔNG</a:t>
            </a:r>
            <a:endParaRPr lang="en-US" sz="1550" dirty="0"/>
          </a:p>
        </p:txBody>
      </p:sp>
      <p:sp>
        <p:nvSpPr>
          <p:cNvPr id="4" name="Text 1"/>
          <p:cNvSpPr/>
          <p:nvPr/>
        </p:nvSpPr>
        <p:spPr>
          <a:xfrm>
            <a:off x="1280160" y="2423160"/>
            <a:ext cx="9631375" cy="1371600"/>
          </a:xfrm>
          <a:prstGeom prst="rect">
            <a:avLst/>
          </a:prstGeom>
          <a:noFill/>
          <a:ln/>
        </p:spPr>
        <p:txBody>
          <a:bodyPr wrap="square" lIns="0" tIns="0" rIns="0" bIns="0" rtlCol="0" anchor="ctr"/>
          <a:lstStyle/>
          <a:p>
            <a:pPr algn="ctr" indent="0" marL="0">
              <a:lnSpc>
                <a:spcPct val="110000"/>
              </a:lnSpc>
              <a:buNone/>
            </a:pPr>
            <a:r>
              <a:rPr lang="en-US" sz="3000" b="1" dirty="0">
                <a:solidFill>
                  <a:srgbClr val="FFFFFF"/>
                </a:solidFill>
                <a:latin typeface="Times New Roman" pitchFamily="34" charset="0"/>
                <a:ea typeface="Times New Roman" pitchFamily="34" charset="-122"/>
                <a:cs typeface="Times New Roman" pitchFamily="34" charset="-120"/>
              </a:rPr>
              <a:t>BÁO CÁO ĐỒ ÁN</a:t>
            </a:r>
            <a:endParaRPr lang="en-US" sz="3000" dirty="0"/>
          </a:p>
          <a:p>
            <a:pPr algn="ctr" indent="0" marL="0">
              <a:lnSpc>
                <a:spcPct val="110000"/>
              </a:lnSpc>
              <a:buNone/>
            </a:pPr>
            <a:r>
              <a:rPr lang="en-US" sz="3000" b="1" dirty="0">
                <a:solidFill>
                  <a:srgbClr val="FFFFFF"/>
                </a:solidFill>
                <a:latin typeface="Times New Roman" pitchFamily="34" charset="0"/>
                <a:ea typeface="Times New Roman" pitchFamily="34" charset="-122"/>
                <a:cs typeface="Times New Roman" pitchFamily="34" charset="-120"/>
              </a:rPr>
              <a:t>ĐỀ TÀI 3: HỆ THỐNG QUẢN TRỊ TRI THỨC</a:t>
            </a:r>
            <a:endParaRPr lang="en-US" sz="3000" dirty="0"/>
          </a:p>
        </p:txBody>
      </p:sp>
      <p:sp>
        <p:nvSpPr>
          <p:cNvPr id="5" name="Text 2"/>
          <p:cNvSpPr/>
          <p:nvPr/>
        </p:nvSpPr>
        <p:spPr>
          <a:xfrm>
            <a:off x="1280160" y="3703320"/>
            <a:ext cx="9631375" cy="457200"/>
          </a:xfrm>
          <a:prstGeom prst="rect">
            <a:avLst/>
          </a:prstGeom>
          <a:noFill/>
          <a:ln/>
        </p:spPr>
        <p:txBody>
          <a:bodyPr wrap="square" lIns="0" tIns="0" rIns="0" bIns="0" rtlCol="0" anchor="ctr"/>
          <a:lstStyle/>
          <a:p>
            <a:pPr algn="ctr" indent="0" marL="0">
              <a:buNone/>
            </a:pPr>
            <a:r>
              <a:rPr lang="en-US" sz="1600" i="1" dirty="0">
                <a:solidFill>
                  <a:srgbClr val="B1DEE4"/>
                </a:solidFill>
                <a:latin typeface="Times New Roman" pitchFamily="34" charset="0"/>
                <a:ea typeface="Times New Roman" pitchFamily="34" charset="-122"/>
                <a:cs typeface="Times New Roman" pitchFamily="34" charset="-120"/>
              </a:rPr>
              <a:t>(Stack Overflow Clone tích hợp Tìm kiếm ngữ nghĩa TF-IDF / Sentence-BERT)</a:t>
            </a:r>
            <a:endParaRPr lang="en-US" sz="1600" dirty="0"/>
          </a:p>
        </p:txBody>
      </p:sp>
      <p:sp>
        <p:nvSpPr>
          <p:cNvPr id="6" name="Text 3"/>
          <p:cNvSpPr/>
          <p:nvPr/>
        </p:nvSpPr>
        <p:spPr>
          <a:xfrm>
            <a:off x="1280160" y="4846320"/>
            <a:ext cx="9631375" cy="822960"/>
          </a:xfrm>
          <a:prstGeom prst="rect">
            <a:avLst/>
          </a:prstGeom>
          <a:noFill/>
          <a:ln/>
        </p:spPr>
        <p:txBody>
          <a:bodyPr wrap="square" lIns="0" tIns="0" rIns="0" bIns="0" rtlCol="0" anchor="ctr"/>
          <a:lstStyle/>
          <a:p>
            <a:pPr algn="ctr" indent="0" marL="0">
              <a:lnSpc>
                <a:spcPct val="120000"/>
              </a:lnSpc>
              <a:buNone/>
            </a:pPr>
            <a:r>
              <a:rPr lang="en-US" sz="1600" dirty="0">
                <a:solidFill>
                  <a:srgbClr val="FFFFFF"/>
                </a:solidFill>
                <a:latin typeface="Times New Roman" pitchFamily="34" charset="0"/>
                <a:ea typeface="Times New Roman" pitchFamily="34" charset="-122"/>
                <a:cs typeface="Times New Roman" pitchFamily="34" charset="-120"/>
              </a:rPr>
              <a:t>Thành viên thực hiện:</a:t>
            </a:r>
            <a:endParaRPr lang="en-US" sz="1600" dirty="0"/>
          </a:p>
          <a:p>
            <a:pPr algn="ctr" indent="0" marL="0">
              <a:lnSpc>
                <a:spcPct val="120000"/>
              </a:lnSpc>
              <a:buNone/>
            </a:pPr>
            <a:r>
              <a:rPr lang="en-US" sz="1600" dirty="0">
                <a:solidFill>
                  <a:srgbClr val="FFFFFF"/>
                </a:solidFill>
                <a:latin typeface="Times New Roman" pitchFamily="34" charset="0"/>
                <a:ea typeface="Times New Roman" pitchFamily="34" charset="-122"/>
                <a:cs typeface="Times New Roman" pitchFamily="34" charset="-120"/>
              </a:rPr>
              <a:t>[Họ và tên sinh viên] – MSSV: [........]</a:t>
            </a:r>
            <a:endParaRPr lang="en-US" sz="1600" dirty="0"/>
          </a:p>
        </p:txBody>
      </p:sp>
      <p:sp>
        <p:nvSpPr>
          <p:cNvPr id="7" name="Text 4"/>
          <p:cNvSpPr/>
          <p:nvPr/>
        </p:nvSpPr>
        <p:spPr>
          <a:xfrm>
            <a:off x="1280160" y="6126480"/>
            <a:ext cx="9631375" cy="365760"/>
          </a:xfrm>
          <a:prstGeom prst="rect">
            <a:avLst/>
          </a:prstGeom>
          <a:noFill/>
          <a:ln/>
        </p:spPr>
        <p:txBody>
          <a:bodyPr wrap="square" lIns="0" tIns="0" rIns="0" bIns="0" rtlCol="0" anchor="ctr"/>
          <a:lstStyle/>
          <a:p>
            <a:pPr algn="ctr" indent="0" marL="0">
              <a:buNone/>
            </a:pPr>
            <a:r>
              <a:rPr lang="en-US" sz="1300" i="1" dirty="0">
                <a:solidFill>
                  <a:srgbClr val="B1DEE4"/>
                </a:solidFill>
                <a:latin typeface="Times New Roman" pitchFamily="34" charset="0"/>
                <a:ea typeface="Times New Roman" pitchFamily="34" charset="-122"/>
                <a:cs typeface="Times New Roman" pitchFamily="34" charset="-120"/>
              </a:rPr>
              <a:t>Cần Thơ,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logo_big.png">    </p:cNvPr>
          <p:cNvPicPr>
            <a:picLocks noChangeAspect="1"/>
          </p:cNvPicPr>
          <p:nvPr/>
        </p:nvPicPr>
        <p:blipFill>
          <a:blip r:embed="rId1"/>
          <a:stretch>
            <a:fillRect/>
          </a:stretch>
        </p:blipFill>
        <p:spPr>
          <a:xfrm>
            <a:off x="164592" y="128016"/>
            <a:ext cx="960120" cy="960120"/>
          </a:xfrm>
          <a:prstGeom prst="rect">
            <a:avLst/>
          </a:prstGeom>
        </p:spPr>
      </p:pic>
      <p:sp>
        <p:nvSpPr>
          <p:cNvPr id="3" name="Text 0"/>
          <p:cNvSpPr/>
          <p:nvPr/>
        </p:nvSpPr>
        <p:spPr>
          <a:xfrm>
            <a:off x="1371600" y="109728"/>
            <a:ext cx="10545775" cy="777240"/>
          </a:xfrm>
          <a:prstGeom prst="rect">
            <a:avLst/>
          </a:prstGeom>
          <a:noFill/>
          <a:ln/>
        </p:spPr>
        <p:txBody>
          <a:bodyPr wrap="square" lIns="0" tIns="0" rIns="0" bIns="0" rtlCol="0" anchor="ctr"/>
          <a:lstStyle/>
          <a:p>
            <a:pPr algn="ctr" indent="0" marL="0">
              <a:buNone/>
            </a:pPr>
            <a:r>
              <a:rPr lang="en-US" sz="2600" b="1" dirty="0">
                <a:solidFill>
                  <a:srgbClr val="4472C4"/>
                </a:solidFill>
                <a:latin typeface="Times New Roman" pitchFamily="34" charset="0"/>
                <a:ea typeface="Times New Roman" pitchFamily="34" charset="-122"/>
                <a:cs typeface="Times New Roman" pitchFamily="34" charset="-120"/>
              </a:rPr>
              <a:t>NỘI DUNG BÁO CÁO</a:t>
            </a:r>
            <a:endParaRPr lang="en-US" sz="2600" dirty="0"/>
          </a:p>
        </p:txBody>
      </p:sp>
      <p:sp>
        <p:nvSpPr>
          <p:cNvPr id="4" name="Shape 1"/>
          <p:cNvSpPr/>
          <p:nvPr/>
        </p:nvSpPr>
        <p:spPr>
          <a:xfrm>
            <a:off x="1371600" y="932688"/>
            <a:ext cx="10545775" cy="0"/>
          </a:xfrm>
          <a:prstGeom prst="line">
            <a:avLst/>
          </a:prstGeom>
          <a:noFill/>
          <a:ln w="19050">
            <a:solidFill>
              <a:srgbClr val="4472C4"/>
            </a:solidFill>
            <a:prstDash val="solid"/>
          </a:ln>
        </p:spPr>
      </p:sp>
      <p:pic>
        <p:nvPicPr>
          <p:cNvPr id="5" name="Image 1" descr="logo_small.png">    </p:cNvPr>
          <p:cNvPicPr>
            <a:picLocks noChangeAspect="1"/>
          </p:cNvPicPr>
          <p:nvPr/>
        </p:nvPicPr>
        <p:blipFill>
          <a:blip r:embed="rId2"/>
          <a:stretch>
            <a:fillRect/>
          </a:stretch>
        </p:blipFill>
        <p:spPr>
          <a:xfrm>
            <a:off x="256032" y="6473952"/>
            <a:ext cx="292608" cy="292608"/>
          </a:xfrm>
          <a:prstGeom prst="rect">
            <a:avLst/>
          </a:prstGeom>
        </p:spPr>
      </p:pic>
      <p:sp>
        <p:nvSpPr>
          <p:cNvPr id="6" name="Text 2"/>
          <p:cNvSpPr/>
          <p:nvPr/>
        </p:nvSpPr>
        <p:spPr>
          <a:xfrm>
            <a:off x="594360" y="6437376"/>
            <a:ext cx="3200400" cy="219456"/>
          </a:xfrm>
          <a:prstGeom prst="rect">
            <a:avLst/>
          </a:prstGeom>
          <a:noFill/>
          <a:ln/>
        </p:spPr>
        <p:txBody>
          <a:bodyPr wrap="square" lIns="0" tIns="0" rIns="0" bIns="0" rtlCol="0" anchor="t"/>
          <a:lstStyle/>
          <a:p>
            <a:pPr indent="0" marL="0">
              <a:buNone/>
            </a:pPr>
            <a:r>
              <a:rPr lang="en-US" sz="1200" b="1" dirty="0">
                <a:solidFill>
                  <a:srgbClr val="4472C4"/>
                </a:solidFill>
                <a:latin typeface="Times New Roman" pitchFamily="34" charset="0"/>
                <a:ea typeface="Times New Roman" pitchFamily="34" charset="-122"/>
                <a:cs typeface="Times New Roman" pitchFamily="34" charset="-120"/>
              </a:rPr>
              <a:t>ĐẠI HỌC CẦN THƠ</a:t>
            </a:r>
            <a:endParaRPr lang="en-US" sz="1200" dirty="0"/>
          </a:p>
        </p:txBody>
      </p:sp>
      <p:sp>
        <p:nvSpPr>
          <p:cNvPr id="7" name="Text 3"/>
          <p:cNvSpPr/>
          <p:nvPr/>
        </p:nvSpPr>
        <p:spPr>
          <a:xfrm>
            <a:off x="594360" y="6638544"/>
            <a:ext cx="3200400" cy="182880"/>
          </a:xfrm>
          <a:prstGeom prst="rect">
            <a:avLst/>
          </a:prstGeom>
          <a:noFill/>
          <a:ln/>
        </p:spPr>
        <p:txBody>
          <a:bodyPr wrap="square" lIns="0" tIns="0" rIns="0" bIns="0" rtlCol="0" anchor="ctr"/>
          <a:lstStyle/>
          <a:p>
            <a:pPr indent="0" marL="0">
              <a:buNone/>
            </a:pPr>
            <a:r>
              <a:rPr lang="en-US" sz="700" dirty="0">
                <a:solidFill>
                  <a:srgbClr val="7F7F7F"/>
                </a:solidFill>
                <a:latin typeface="Arial" pitchFamily="34" charset="0"/>
                <a:ea typeface="Arial" pitchFamily="34" charset="-122"/>
                <a:cs typeface="Arial" pitchFamily="34" charset="-120"/>
              </a:rPr>
              <a:t>Cộng đồng - Toàn diện - Ưu việt</a:t>
            </a:r>
            <a:endParaRPr lang="en-US" sz="700" dirty="0"/>
          </a:p>
        </p:txBody>
      </p:sp>
      <p:sp>
        <p:nvSpPr>
          <p:cNvPr id="8" name="Shape 4"/>
          <p:cNvSpPr/>
          <p:nvPr/>
        </p:nvSpPr>
        <p:spPr>
          <a:xfrm>
            <a:off x="2011680" y="6638544"/>
            <a:ext cx="8351215" cy="0"/>
          </a:xfrm>
          <a:prstGeom prst="line">
            <a:avLst/>
          </a:prstGeom>
          <a:noFill/>
          <a:ln w="15875">
            <a:solidFill>
              <a:srgbClr val="01B0F1"/>
            </a:solidFill>
            <a:prstDash val="solid"/>
          </a:ln>
        </p:spPr>
      </p:sp>
      <p:sp>
        <p:nvSpPr>
          <p:cNvPr id="9" name="Text 5"/>
          <p:cNvSpPr/>
          <p:nvPr/>
        </p:nvSpPr>
        <p:spPr>
          <a:xfrm>
            <a:off x="10362895" y="6473952"/>
            <a:ext cx="1554480" cy="256032"/>
          </a:xfrm>
          <a:prstGeom prst="rect">
            <a:avLst/>
          </a:prstGeom>
          <a:noFill/>
          <a:ln/>
        </p:spPr>
        <p:txBody>
          <a:bodyPr wrap="square" lIns="0" tIns="0" rIns="0" bIns="0" rtlCol="0" anchor="t"/>
          <a:lstStyle/>
          <a:p>
            <a:pPr algn="r" indent="0" marL="0">
              <a:buNone/>
            </a:pPr>
            <a:r>
              <a:rPr lang="en-US" sz="1100" b="1" dirty="0">
                <a:solidFill>
                  <a:srgbClr val="01B0F1"/>
                </a:solidFill>
                <a:latin typeface="Arial" pitchFamily="34" charset="0"/>
                <a:ea typeface="Arial" pitchFamily="34" charset="-122"/>
                <a:cs typeface="Arial" pitchFamily="34" charset="-120"/>
              </a:rPr>
              <a:t>www.ctu.edu.vn</a:t>
            </a:r>
            <a:endParaRPr lang="en-US" sz="1100" dirty="0"/>
          </a:p>
        </p:txBody>
      </p:sp>
      <p:sp>
        <p:nvSpPr>
          <p:cNvPr id="10" name="Text 6"/>
          <p:cNvSpPr/>
          <p:nvPr/>
        </p:nvSpPr>
        <p:spPr>
          <a:xfrm>
            <a:off x="11871655" y="6473952"/>
            <a:ext cx="274320" cy="256032"/>
          </a:xfrm>
          <a:prstGeom prst="rect">
            <a:avLst/>
          </a:prstGeom>
          <a:solidFill>
            <a:srgbClr val="01B0F1"/>
          </a:solid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1" name="Text 7"/>
          <p:cNvSpPr/>
          <p:nvPr/>
        </p:nvSpPr>
        <p:spPr>
          <a:xfrm>
            <a:off x="1463040" y="1371600"/>
            <a:ext cx="9265615" cy="4846320"/>
          </a:xfrm>
          <a:prstGeom prst="rect">
            <a:avLst/>
          </a:prstGeom>
          <a:noFill/>
          <a:ln/>
        </p:spPr>
        <p:txBody>
          <a:bodyPr wrap="square" rtlCol="0" anchor="t"/>
          <a:lstStyle/>
          <a:p>
            <a:pPr marL="228600" indent="-228600">
              <a:spcAft>
                <a:spcPts val="1400"/>
              </a:spcAft>
              <a:buSzPct val="100000"/>
              <a:buChar char="▪"/>
            </a:pPr>
            <a:r>
              <a:rPr lang="en-US" sz="2200" dirty="0">
                <a:solidFill>
                  <a:srgbClr val="000000"/>
                </a:solidFill>
                <a:latin typeface="Times New Roman" pitchFamily="34" charset="0"/>
                <a:ea typeface="Times New Roman" pitchFamily="34" charset="-122"/>
                <a:cs typeface="Times New Roman" pitchFamily="34" charset="-120"/>
              </a:rPr>
              <a:t>1. Đặt vấn đề</a:t>
            </a:r>
            <a:endParaRPr lang="en-US" sz="2200" dirty="0"/>
          </a:p>
          <a:p>
            <a:pPr marL="228600" indent="-228600">
              <a:spcAft>
                <a:spcPts val="1400"/>
              </a:spcAft>
              <a:buSzPct val="100000"/>
              <a:buChar char="▪"/>
            </a:pPr>
            <a:r>
              <a:rPr lang="en-US" sz="2200" dirty="0">
                <a:solidFill>
                  <a:srgbClr val="000000"/>
                </a:solidFill>
                <a:latin typeface="Times New Roman" pitchFamily="34" charset="0"/>
                <a:ea typeface="Times New Roman" pitchFamily="34" charset="-122"/>
                <a:cs typeface="Times New Roman" pitchFamily="34" charset="-120"/>
              </a:rPr>
              <a:t>2. Mục tiêu, đối tượng &amp; phạm vi nghiên cứu</a:t>
            </a:r>
            <a:endParaRPr lang="en-US" sz="2200" dirty="0"/>
          </a:p>
          <a:p>
            <a:pPr marL="228600" indent="-228600">
              <a:spcAft>
                <a:spcPts val="1400"/>
              </a:spcAft>
              <a:buSzPct val="100000"/>
              <a:buChar char="▪"/>
            </a:pPr>
            <a:r>
              <a:rPr lang="en-US" sz="2200" dirty="0">
                <a:solidFill>
                  <a:srgbClr val="000000"/>
                </a:solidFill>
                <a:latin typeface="Times New Roman" pitchFamily="34" charset="0"/>
                <a:ea typeface="Times New Roman" pitchFamily="34" charset="-122"/>
                <a:cs typeface="Times New Roman" pitchFamily="34" charset="-120"/>
              </a:rPr>
              <a:t>3. Phân tích yêu cầu — Sơ đồ Use Case</a:t>
            </a:r>
            <a:endParaRPr lang="en-US" sz="2200" dirty="0"/>
          </a:p>
          <a:p>
            <a:pPr marL="228600" indent="-228600">
              <a:spcAft>
                <a:spcPts val="1400"/>
              </a:spcAft>
              <a:buSzPct val="100000"/>
              <a:buChar char="▪"/>
            </a:pPr>
            <a:r>
              <a:rPr lang="en-US" sz="2200" dirty="0">
                <a:solidFill>
                  <a:srgbClr val="000000"/>
                </a:solidFill>
                <a:latin typeface="Times New Roman" pitchFamily="34" charset="0"/>
                <a:ea typeface="Times New Roman" pitchFamily="34" charset="-122"/>
                <a:cs typeface="Times New Roman" pitchFamily="34" charset="-120"/>
              </a:rPr>
              <a:t>4. Thiết kế dữ liệu (ERD)</a:t>
            </a:r>
            <a:endParaRPr lang="en-US" sz="2200" dirty="0"/>
          </a:p>
          <a:p>
            <a:pPr marL="228600" indent="-228600">
              <a:spcAft>
                <a:spcPts val="1400"/>
              </a:spcAft>
              <a:buSzPct val="100000"/>
              <a:buChar char="▪"/>
            </a:pPr>
            <a:r>
              <a:rPr lang="en-US" sz="2200" dirty="0">
                <a:solidFill>
                  <a:srgbClr val="000000"/>
                </a:solidFill>
                <a:latin typeface="Times New Roman" pitchFamily="34" charset="0"/>
                <a:ea typeface="Times New Roman" pitchFamily="34" charset="-122"/>
                <a:cs typeface="Times New Roman" pitchFamily="34" charset="-120"/>
              </a:rPr>
              <a:t>5. Giải thuật tìm kiếm ngữ nghĩa (TF-IDF / SBERT)</a:t>
            </a:r>
            <a:endParaRPr lang="en-US" sz="2200" dirty="0"/>
          </a:p>
          <a:p>
            <a:pPr marL="228600" indent="-228600">
              <a:spcAft>
                <a:spcPts val="1400"/>
              </a:spcAft>
              <a:buSzPct val="100000"/>
              <a:buChar char="▪"/>
            </a:pPr>
            <a:r>
              <a:rPr lang="en-US" sz="2200" dirty="0">
                <a:solidFill>
                  <a:srgbClr val="000000"/>
                </a:solidFill>
                <a:latin typeface="Times New Roman" pitchFamily="34" charset="0"/>
                <a:ea typeface="Times New Roman" pitchFamily="34" charset="-122"/>
                <a:cs typeface="Times New Roman" pitchFamily="34" charset="-120"/>
              </a:rPr>
              <a:t>6. Cài đặt minh họa</a:t>
            </a:r>
            <a:endParaRPr lang="en-US" sz="2200" dirty="0"/>
          </a:p>
          <a:p>
            <a:pPr marL="228600" indent="-228600">
              <a:spcAft>
                <a:spcPts val="1400"/>
              </a:spcAft>
              <a:buSzPct val="100000"/>
              <a:buChar char="▪"/>
            </a:pPr>
            <a:r>
              <a:rPr lang="en-US" sz="2200" dirty="0">
                <a:solidFill>
                  <a:srgbClr val="000000"/>
                </a:solidFill>
                <a:latin typeface="Times New Roman" pitchFamily="34" charset="0"/>
                <a:ea typeface="Times New Roman" pitchFamily="34" charset="-122"/>
                <a:cs typeface="Times New Roman" pitchFamily="34" charset="-120"/>
              </a:rPr>
              <a:t>7. Kết quả thực nghiệm</a:t>
            </a:r>
            <a:endParaRPr lang="en-US" sz="2200" dirty="0"/>
          </a:p>
          <a:p>
            <a:pPr marL="228600" indent="-228600">
              <a:spcAft>
                <a:spcPts val="1400"/>
              </a:spcAft>
              <a:buSzPct val="100000"/>
              <a:buChar char="▪"/>
            </a:pPr>
            <a:r>
              <a:rPr lang="en-US" sz="2200" dirty="0">
                <a:solidFill>
                  <a:srgbClr val="000000"/>
                </a:solidFill>
                <a:latin typeface="Times New Roman" pitchFamily="34" charset="0"/>
                <a:ea typeface="Times New Roman" pitchFamily="34" charset="-122"/>
                <a:cs typeface="Times New Roman" pitchFamily="34" charset="-120"/>
              </a:rPr>
              <a:t>8. Kết luận &amp; hướng phát triển</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logo_big.png">    </p:cNvPr>
          <p:cNvPicPr>
            <a:picLocks noChangeAspect="1"/>
          </p:cNvPicPr>
          <p:nvPr/>
        </p:nvPicPr>
        <p:blipFill>
          <a:blip r:embed="rId1"/>
          <a:stretch>
            <a:fillRect/>
          </a:stretch>
        </p:blipFill>
        <p:spPr>
          <a:xfrm>
            <a:off x="164592" y="128016"/>
            <a:ext cx="960120" cy="960120"/>
          </a:xfrm>
          <a:prstGeom prst="rect">
            <a:avLst/>
          </a:prstGeom>
        </p:spPr>
      </p:pic>
      <p:sp>
        <p:nvSpPr>
          <p:cNvPr id="3" name="Text 0"/>
          <p:cNvSpPr/>
          <p:nvPr/>
        </p:nvSpPr>
        <p:spPr>
          <a:xfrm>
            <a:off x="1371600" y="109728"/>
            <a:ext cx="10545775" cy="777240"/>
          </a:xfrm>
          <a:prstGeom prst="rect">
            <a:avLst/>
          </a:prstGeom>
          <a:noFill/>
          <a:ln/>
        </p:spPr>
        <p:txBody>
          <a:bodyPr wrap="square" lIns="0" tIns="0" rIns="0" bIns="0" rtlCol="0" anchor="ctr"/>
          <a:lstStyle/>
          <a:p>
            <a:pPr algn="ctr" indent="0" marL="0">
              <a:buNone/>
            </a:pPr>
            <a:r>
              <a:rPr lang="en-US" sz="2600" b="1" dirty="0">
                <a:solidFill>
                  <a:srgbClr val="4472C4"/>
                </a:solidFill>
                <a:latin typeface="Times New Roman" pitchFamily="34" charset="0"/>
                <a:ea typeface="Times New Roman" pitchFamily="34" charset="-122"/>
                <a:cs typeface="Times New Roman" pitchFamily="34" charset="-120"/>
              </a:rPr>
              <a:t>ĐẶT VẤN ĐỀ</a:t>
            </a:r>
            <a:endParaRPr lang="en-US" sz="2600" dirty="0"/>
          </a:p>
        </p:txBody>
      </p:sp>
      <p:sp>
        <p:nvSpPr>
          <p:cNvPr id="4" name="Shape 1"/>
          <p:cNvSpPr/>
          <p:nvPr/>
        </p:nvSpPr>
        <p:spPr>
          <a:xfrm>
            <a:off x="1371600" y="932688"/>
            <a:ext cx="10545775" cy="0"/>
          </a:xfrm>
          <a:prstGeom prst="line">
            <a:avLst/>
          </a:prstGeom>
          <a:noFill/>
          <a:ln w="19050">
            <a:solidFill>
              <a:srgbClr val="4472C4"/>
            </a:solidFill>
            <a:prstDash val="solid"/>
          </a:ln>
        </p:spPr>
      </p:sp>
      <p:pic>
        <p:nvPicPr>
          <p:cNvPr id="5" name="Image 1" descr="logo_small.png">    </p:cNvPr>
          <p:cNvPicPr>
            <a:picLocks noChangeAspect="1"/>
          </p:cNvPicPr>
          <p:nvPr/>
        </p:nvPicPr>
        <p:blipFill>
          <a:blip r:embed="rId2"/>
          <a:stretch>
            <a:fillRect/>
          </a:stretch>
        </p:blipFill>
        <p:spPr>
          <a:xfrm>
            <a:off x="256032" y="6473952"/>
            <a:ext cx="292608" cy="292608"/>
          </a:xfrm>
          <a:prstGeom prst="rect">
            <a:avLst/>
          </a:prstGeom>
        </p:spPr>
      </p:pic>
      <p:sp>
        <p:nvSpPr>
          <p:cNvPr id="6" name="Text 2"/>
          <p:cNvSpPr/>
          <p:nvPr/>
        </p:nvSpPr>
        <p:spPr>
          <a:xfrm>
            <a:off x="594360" y="6437376"/>
            <a:ext cx="3200400" cy="219456"/>
          </a:xfrm>
          <a:prstGeom prst="rect">
            <a:avLst/>
          </a:prstGeom>
          <a:noFill/>
          <a:ln/>
        </p:spPr>
        <p:txBody>
          <a:bodyPr wrap="square" lIns="0" tIns="0" rIns="0" bIns="0" rtlCol="0" anchor="t"/>
          <a:lstStyle/>
          <a:p>
            <a:pPr indent="0" marL="0">
              <a:buNone/>
            </a:pPr>
            <a:r>
              <a:rPr lang="en-US" sz="1200" b="1" dirty="0">
                <a:solidFill>
                  <a:srgbClr val="4472C4"/>
                </a:solidFill>
                <a:latin typeface="Times New Roman" pitchFamily="34" charset="0"/>
                <a:ea typeface="Times New Roman" pitchFamily="34" charset="-122"/>
                <a:cs typeface="Times New Roman" pitchFamily="34" charset="-120"/>
              </a:rPr>
              <a:t>ĐẠI HỌC CẦN THƠ</a:t>
            </a:r>
            <a:endParaRPr lang="en-US" sz="1200" dirty="0"/>
          </a:p>
        </p:txBody>
      </p:sp>
      <p:sp>
        <p:nvSpPr>
          <p:cNvPr id="7" name="Text 3"/>
          <p:cNvSpPr/>
          <p:nvPr/>
        </p:nvSpPr>
        <p:spPr>
          <a:xfrm>
            <a:off x="594360" y="6638544"/>
            <a:ext cx="3200400" cy="182880"/>
          </a:xfrm>
          <a:prstGeom prst="rect">
            <a:avLst/>
          </a:prstGeom>
          <a:noFill/>
          <a:ln/>
        </p:spPr>
        <p:txBody>
          <a:bodyPr wrap="square" lIns="0" tIns="0" rIns="0" bIns="0" rtlCol="0" anchor="ctr"/>
          <a:lstStyle/>
          <a:p>
            <a:pPr indent="0" marL="0">
              <a:buNone/>
            </a:pPr>
            <a:r>
              <a:rPr lang="en-US" sz="700" dirty="0">
                <a:solidFill>
                  <a:srgbClr val="7F7F7F"/>
                </a:solidFill>
                <a:latin typeface="Arial" pitchFamily="34" charset="0"/>
                <a:ea typeface="Arial" pitchFamily="34" charset="-122"/>
                <a:cs typeface="Arial" pitchFamily="34" charset="-120"/>
              </a:rPr>
              <a:t>Cộng đồng - Toàn diện - Ưu việt</a:t>
            </a:r>
            <a:endParaRPr lang="en-US" sz="700" dirty="0"/>
          </a:p>
        </p:txBody>
      </p:sp>
      <p:sp>
        <p:nvSpPr>
          <p:cNvPr id="8" name="Shape 4"/>
          <p:cNvSpPr/>
          <p:nvPr/>
        </p:nvSpPr>
        <p:spPr>
          <a:xfrm>
            <a:off x="2011680" y="6638544"/>
            <a:ext cx="8351215" cy="0"/>
          </a:xfrm>
          <a:prstGeom prst="line">
            <a:avLst/>
          </a:prstGeom>
          <a:noFill/>
          <a:ln w="15875">
            <a:solidFill>
              <a:srgbClr val="01B0F1"/>
            </a:solidFill>
            <a:prstDash val="solid"/>
          </a:ln>
        </p:spPr>
      </p:sp>
      <p:sp>
        <p:nvSpPr>
          <p:cNvPr id="9" name="Text 5"/>
          <p:cNvSpPr/>
          <p:nvPr/>
        </p:nvSpPr>
        <p:spPr>
          <a:xfrm>
            <a:off x="10362895" y="6473952"/>
            <a:ext cx="1554480" cy="256032"/>
          </a:xfrm>
          <a:prstGeom prst="rect">
            <a:avLst/>
          </a:prstGeom>
          <a:noFill/>
          <a:ln/>
        </p:spPr>
        <p:txBody>
          <a:bodyPr wrap="square" lIns="0" tIns="0" rIns="0" bIns="0" rtlCol="0" anchor="t"/>
          <a:lstStyle/>
          <a:p>
            <a:pPr algn="r" indent="0" marL="0">
              <a:buNone/>
            </a:pPr>
            <a:r>
              <a:rPr lang="en-US" sz="1100" b="1" dirty="0">
                <a:solidFill>
                  <a:srgbClr val="01B0F1"/>
                </a:solidFill>
                <a:latin typeface="Arial" pitchFamily="34" charset="0"/>
                <a:ea typeface="Arial" pitchFamily="34" charset="-122"/>
                <a:cs typeface="Arial" pitchFamily="34" charset="-120"/>
              </a:rPr>
              <a:t>www.ctu.edu.vn</a:t>
            </a:r>
            <a:endParaRPr lang="en-US" sz="1100" dirty="0"/>
          </a:p>
        </p:txBody>
      </p:sp>
      <p:sp>
        <p:nvSpPr>
          <p:cNvPr id="10" name="Text 6"/>
          <p:cNvSpPr/>
          <p:nvPr/>
        </p:nvSpPr>
        <p:spPr>
          <a:xfrm>
            <a:off x="11871655" y="6473952"/>
            <a:ext cx="274320" cy="256032"/>
          </a:xfrm>
          <a:prstGeom prst="rect">
            <a:avLst/>
          </a:prstGeom>
          <a:solidFill>
            <a:srgbClr val="01B0F1"/>
          </a:solid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1" name="Text 7"/>
          <p:cNvSpPr/>
          <p:nvPr/>
        </p:nvSpPr>
        <p:spPr>
          <a:xfrm>
            <a:off x="1371600" y="1234440"/>
            <a:ext cx="9448495" cy="1188720"/>
          </a:xfrm>
          <a:prstGeom prst="rect">
            <a:avLst/>
          </a:prstGeom>
          <a:noFill/>
          <a:ln/>
        </p:spPr>
        <p:txBody>
          <a:bodyPr wrap="square" rtlCol="0" anchor="t"/>
          <a:lstStyle/>
          <a:p>
            <a:pPr algn="l" indent="0" marL="0">
              <a:lnSpc>
                <a:spcPct val="120000"/>
              </a:lnSpc>
              <a:buNone/>
            </a:pPr>
            <a:r>
              <a:rPr lang="en-US" sz="1800" dirty="0">
                <a:solidFill>
                  <a:srgbClr val="000000"/>
                </a:solidFill>
                <a:latin typeface="Times New Roman" pitchFamily="34" charset="0"/>
                <a:ea typeface="Times New Roman" pitchFamily="34" charset="-122"/>
                <a:cs typeface="Times New Roman" pitchFamily="34" charset="-120"/>
              </a:rPr>
              <a:t>Trong một tổ chức, kiến thức và kinh nghiệm thường bị phân tán: người này biết cách xử lý một lỗi kỹ thuật nhưng không ai khác biết; người khác từng gặp vấn đề tương tự nhưng không có nơi nào để ghi lại.</a:t>
            </a:r>
            <a:endParaRPr lang="en-US" sz="1800" dirty="0"/>
          </a:p>
        </p:txBody>
      </p:sp>
      <p:sp>
        <p:nvSpPr>
          <p:cNvPr id="12" name="Text 8"/>
          <p:cNvSpPr/>
          <p:nvPr/>
        </p:nvSpPr>
        <p:spPr>
          <a:xfrm>
            <a:off x="1371600" y="2423160"/>
            <a:ext cx="9448495" cy="457200"/>
          </a:xfrm>
          <a:prstGeom prst="rect">
            <a:avLst/>
          </a:prstGeom>
          <a:noFill/>
          <a:ln/>
        </p:spPr>
        <p:txBody>
          <a:bodyPr wrap="square" rtlCol="0" anchor="t"/>
          <a:lstStyle/>
          <a:p>
            <a:pPr indent="0" marL="0">
              <a:buNone/>
            </a:pPr>
            <a:r>
              <a:rPr lang="en-US" sz="1800" b="1" i="1" dirty="0">
                <a:solidFill>
                  <a:srgbClr val="4472C4"/>
                </a:solidFill>
                <a:latin typeface="Times New Roman" pitchFamily="34" charset="0"/>
                <a:ea typeface="Times New Roman" pitchFamily="34" charset="-122"/>
                <a:cs typeface="Times New Roman" pitchFamily="34" charset="-120"/>
              </a:rPr>
              <a:t>→ Cùng một vấn đề bị hỏi đi hỏi lại nhiều lần, gây mất thời gian.</a:t>
            </a:r>
            <a:endParaRPr lang="en-US" sz="1800" dirty="0"/>
          </a:p>
        </p:txBody>
      </p:sp>
      <p:sp>
        <p:nvSpPr>
          <p:cNvPr id="13" name="Text 9"/>
          <p:cNvSpPr/>
          <p:nvPr/>
        </p:nvSpPr>
        <p:spPr>
          <a:xfrm>
            <a:off x="1371600" y="3200400"/>
            <a:ext cx="9448495" cy="1828800"/>
          </a:xfrm>
          <a:prstGeom prst="rect">
            <a:avLst/>
          </a:prstGeom>
          <a:noFill/>
          <a:ln/>
        </p:spPr>
        <p:txBody>
          <a:bodyPr wrap="square" rtlCol="0" anchor="t"/>
          <a:lstStyle/>
          <a:p>
            <a:pPr indent="0" marL="0">
              <a:lnSpc>
                <a:spcPct val="125000"/>
              </a:lnSpc>
              <a:buNone/>
            </a:pPr>
            <a:r>
              <a:rPr lang="en-US" sz="1800" b="1" dirty="0">
                <a:solidFill>
                  <a:srgbClr val="000000"/>
                </a:solidFill>
                <a:latin typeface="Times New Roman" pitchFamily="34" charset="0"/>
                <a:ea typeface="Times New Roman" pitchFamily="34" charset="-122"/>
                <a:cs typeface="Times New Roman" pitchFamily="34" charset="-120"/>
              </a:rPr>
              <a:t>Giải pháp: </a:t>
            </a:r>
            <a:pPr indent="0" marL="0">
              <a:lnSpc>
                <a:spcPct val="125000"/>
              </a:lnSpc>
              <a:buNone/>
            </a:pPr>
            <a:r>
              <a:rPr lang="en-US" sz="1800" dirty="0">
                <a:solidFill>
                  <a:srgbClr val="000000"/>
                </a:solidFill>
                <a:latin typeface="Times New Roman" pitchFamily="34" charset="0"/>
                <a:ea typeface="Times New Roman" pitchFamily="34" charset="-122"/>
                <a:cs typeface="Times New Roman" pitchFamily="34" charset="-120"/>
              </a:rPr>
              <a:t>xây dựng Hệ thống Quản trị tri thức theo mô hình Stack Overflow — nơi mọi thành viên có thể đặt câu hỏi, chia sẻ câu trả lời, và đặc biệt là tra cứu lại kiến thức đã có bằng chức năng tìm kiếm thông minh theo tiêu đề.</a:t>
            </a:r>
            <a:endParaRPr lang="en-US" sz="1800" dirty="0"/>
          </a:p>
        </p:txBody>
      </p:sp>
      <p:sp>
        <p:nvSpPr>
          <p:cNvPr id="14" name="Text 10"/>
          <p:cNvSpPr/>
          <p:nvPr/>
        </p:nvSpPr>
        <p:spPr>
          <a:xfrm>
            <a:off x="1371600" y="5120640"/>
            <a:ext cx="9448495" cy="1097280"/>
          </a:xfrm>
          <a:prstGeom prst="rect">
            <a:avLst/>
          </a:prstGeom>
          <a:noFill/>
          <a:ln/>
        </p:spPr>
        <p:txBody>
          <a:bodyPr wrap="square" rtlCol="0" anchor="t"/>
          <a:lstStyle/>
          <a:p>
            <a:pPr indent="0" marL="0">
              <a:lnSpc>
                <a:spcPct val="120000"/>
              </a:lnSpc>
              <a:buNone/>
            </a:pPr>
            <a:r>
              <a:rPr lang="en-US" sz="1600" i="1" dirty="0">
                <a:solidFill>
                  <a:srgbClr val="1F3864"/>
                </a:solidFill>
                <a:latin typeface="Times New Roman" pitchFamily="34" charset="0"/>
                <a:ea typeface="Times New Roman" pitchFamily="34" charset="-122"/>
                <a:cs typeface="Times New Roman" pitchFamily="34" charset="-120"/>
              </a:rPr>
              <a:t>Điểm đặc thù: khi dữ liệu lớn, tìm kiếm so khớp chuỗi ký tự (LIKE/regex) không tìm ra câu hỏi liên quan nhưng dùng từ ngữ khác → cần tìm kiếm theo mức độ tương đồng ngữ nghĩa.</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logo_big.png">    </p:cNvPr>
          <p:cNvPicPr>
            <a:picLocks noChangeAspect="1"/>
          </p:cNvPicPr>
          <p:nvPr/>
        </p:nvPicPr>
        <p:blipFill>
          <a:blip r:embed="rId1"/>
          <a:stretch>
            <a:fillRect/>
          </a:stretch>
        </p:blipFill>
        <p:spPr>
          <a:xfrm>
            <a:off x="164592" y="128016"/>
            <a:ext cx="960120" cy="960120"/>
          </a:xfrm>
          <a:prstGeom prst="rect">
            <a:avLst/>
          </a:prstGeom>
        </p:spPr>
      </p:pic>
      <p:sp>
        <p:nvSpPr>
          <p:cNvPr id="3" name="Text 0"/>
          <p:cNvSpPr/>
          <p:nvPr/>
        </p:nvSpPr>
        <p:spPr>
          <a:xfrm>
            <a:off x="1371600" y="109728"/>
            <a:ext cx="10545775" cy="777240"/>
          </a:xfrm>
          <a:prstGeom prst="rect">
            <a:avLst/>
          </a:prstGeom>
          <a:noFill/>
          <a:ln/>
        </p:spPr>
        <p:txBody>
          <a:bodyPr wrap="square" lIns="0" tIns="0" rIns="0" bIns="0" rtlCol="0" anchor="ctr"/>
          <a:lstStyle/>
          <a:p>
            <a:pPr algn="ctr" indent="0" marL="0">
              <a:buNone/>
            </a:pPr>
            <a:r>
              <a:rPr lang="en-US" sz="2600" b="1" dirty="0">
                <a:solidFill>
                  <a:srgbClr val="4472C4"/>
                </a:solidFill>
                <a:latin typeface="Times New Roman" pitchFamily="34" charset="0"/>
                <a:ea typeface="Times New Roman" pitchFamily="34" charset="-122"/>
                <a:cs typeface="Times New Roman" pitchFamily="34" charset="-120"/>
              </a:rPr>
              <a:t>MỤC TIÊU, ĐỐI TƯỢNG &amp; PHẠM VI NGHIÊN CỨU</a:t>
            </a:r>
            <a:endParaRPr lang="en-US" sz="2600" dirty="0"/>
          </a:p>
        </p:txBody>
      </p:sp>
      <p:sp>
        <p:nvSpPr>
          <p:cNvPr id="4" name="Shape 1"/>
          <p:cNvSpPr/>
          <p:nvPr/>
        </p:nvSpPr>
        <p:spPr>
          <a:xfrm>
            <a:off x="1371600" y="932688"/>
            <a:ext cx="10545775" cy="0"/>
          </a:xfrm>
          <a:prstGeom prst="line">
            <a:avLst/>
          </a:prstGeom>
          <a:noFill/>
          <a:ln w="19050">
            <a:solidFill>
              <a:srgbClr val="4472C4"/>
            </a:solidFill>
            <a:prstDash val="solid"/>
          </a:ln>
        </p:spPr>
      </p:sp>
      <p:pic>
        <p:nvPicPr>
          <p:cNvPr id="5" name="Image 1" descr="logo_small.png">    </p:cNvPr>
          <p:cNvPicPr>
            <a:picLocks noChangeAspect="1"/>
          </p:cNvPicPr>
          <p:nvPr/>
        </p:nvPicPr>
        <p:blipFill>
          <a:blip r:embed="rId2"/>
          <a:stretch>
            <a:fillRect/>
          </a:stretch>
        </p:blipFill>
        <p:spPr>
          <a:xfrm>
            <a:off x="256032" y="6473952"/>
            <a:ext cx="292608" cy="292608"/>
          </a:xfrm>
          <a:prstGeom prst="rect">
            <a:avLst/>
          </a:prstGeom>
        </p:spPr>
      </p:pic>
      <p:sp>
        <p:nvSpPr>
          <p:cNvPr id="6" name="Text 2"/>
          <p:cNvSpPr/>
          <p:nvPr/>
        </p:nvSpPr>
        <p:spPr>
          <a:xfrm>
            <a:off x="594360" y="6437376"/>
            <a:ext cx="3200400" cy="219456"/>
          </a:xfrm>
          <a:prstGeom prst="rect">
            <a:avLst/>
          </a:prstGeom>
          <a:noFill/>
          <a:ln/>
        </p:spPr>
        <p:txBody>
          <a:bodyPr wrap="square" lIns="0" tIns="0" rIns="0" bIns="0" rtlCol="0" anchor="t"/>
          <a:lstStyle/>
          <a:p>
            <a:pPr indent="0" marL="0">
              <a:buNone/>
            </a:pPr>
            <a:r>
              <a:rPr lang="en-US" sz="1200" b="1" dirty="0">
                <a:solidFill>
                  <a:srgbClr val="4472C4"/>
                </a:solidFill>
                <a:latin typeface="Times New Roman" pitchFamily="34" charset="0"/>
                <a:ea typeface="Times New Roman" pitchFamily="34" charset="-122"/>
                <a:cs typeface="Times New Roman" pitchFamily="34" charset="-120"/>
              </a:rPr>
              <a:t>ĐẠI HỌC CẦN THƠ</a:t>
            </a:r>
            <a:endParaRPr lang="en-US" sz="1200" dirty="0"/>
          </a:p>
        </p:txBody>
      </p:sp>
      <p:sp>
        <p:nvSpPr>
          <p:cNvPr id="7" name="Text 3"/>
          <p:cNvSpPr/>
          <p:nvPr/>
        </p:nvSpPr>
        <p:spPr>
          <a:xfrm>
            <a:off x="594360" y="6638544"/>
            <a:ext cx="3200400" cy="182880"/>
          </a:xfrm>
          <a:prstGeom prst="rect">
            <a:avLst/>
          </a:prstGeom>
          <a:noFill/>
          <a:ln/>
        </p:spPr>
        <p:txBody>
          <a:bodyPr wrap="square" lIns="0" tIns="0" rIns="0" bIns="0" rtlCol="0" anchor="ctr"/>
          <a:lstStyle/>
          <a:p>
            <a:pPr indent="0" marL="0">
              <a:buNone/>
            </a:pPr>
            <a:r>
              <a:rPr lang="en-US" sz="700" dirty="0">
                <a:solidFill>
                  <a:srgbClr val="7F7F7F"/>
                </a:solidFill>
                <a:latin typeface="Arial" pitchFamily="34" charset="0"/>
                <a:ea typeface="Arial" pitchFamily="34" charset="-122"/>
                <a:cs typeface="Arial" pitchFamily="34" charset="-120"/>
              </a:rPr>
              <a:t>Cộng đồng - Toàn diện - Ưu việt</a:t>
            </a:r>
            <a:endParaRPr lang="en-US" sz="700" dirty="0"/>
          </a:p>
        </p:txBody>
      </p:sp>
      <p:sp>
        <p:nvSpPr>
          <p:cNvPr id="8" name="Shape 4"/>
          <p:cNvSpPr/>
          <p:nvPr/>
        </p:nvSpPr>
        <p:spPr>
          <a:xfrm>
            <a:off x="2011680" y="6638544"/>
            <a:ext cx="8351215" cy="0"/>
          </a:xfrm>
          <a:prstGeom prst="line">
            <a:avLst/>
          </a:prstGeom>
          <a:noFill/>
          <a:ln w="15875">
            <a:solidFill>
              <a:srgbClr val="01B0F1"/>
            </a:solidFill>
            <a:prstDash val="solid"/>
          </a:ln>
        </p:spPr>
      </p:sp>
      <p:sp>
        <p:nvSpPr>
          <p:cNvPr id="9" name="Text 5"/>
          <p:cNvSpPr/>
          <p:nvPr/>
        </p:nvSpPr>
        <p:spPr>
          <a:xfrm>
            <a:off x="10362895" y="6473952"/>
            <a:ext cx="1554480" cy="256032"/>
          </a:xfrm>
          <a:prstGeom prst="rect">
            <a:avLst/>
          </a:prstGeom>
          <a:noFill/>
          <a:ln/>
        </p:spPr>
        <p:txBody>
          <a:bodyPr wrap="square" lIns="0" tIns="0" rIns="0" bIns="0" rtlCol="0" anchor="t"/>
          <a:lstStyle/>
          <a:p>
            <a:pPr algn="r" indent="0" marL="0">
              <a:buNone/>
            </a:pPr>
            <a:r>
              <a:rPr lang="en-US" sz="1100" b="1" dirty="0">
                <a:solidFill>
                  <a:srgbClr val="01B0F1"/>
                </a:solidFill>
                <a:latin typeface="Arial" pitchFamily="34" charset="0"/>
                <a:ea typeface="Arial" pitchFamily="34" charset="-122"/>
                <a:cs typeface="Arial" pitchFamily="34" charset="-120"/>
              </a:rPr>
              <a:t>www.ctu.edu.vn</a:t>
            </a:r>
            <a:endParaRPr lang="en-US" sz="1100" dirty="0"/>
          </a:p>
        </p:txBody>
      </p:sp>
      <p:sp>
        <p:nvSpPr>
          <p:cNvPr id="10" name="Text 6"/>
          <p:cNvSpPr/>
          <p:nvPr/>
        </p:nvSpPr>
        <p:spPr>
          <a:xfrm>
            <a:off x="11871655" y="6473952"/>
            <a:ext cx="274320" cy="256032"/>
          </a:xfrm>
          <a:prstGeom prst="rect">
            <a:avLst/>
          </a:prstGeom>
          <a:solidFill>
            <a:srgbClr val="01B0F1"/>
          </a:solid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1" name="Text 7"/>
          <p:cNvSpPr/>
          <p:nvPr/>
        </p:nvSpPr>
        <p:spPr>
          <a:xfrm>
            <a:off x="822960" y="1188720"/>
            <a:ext cx="5029200" cy="365760"/>
          </a:xfrm>
          <a:prstGeom prst="rect">
            <a:avLst/>
          </a:prstGeom>
          <a:noFill/>
          <a:ln/>
        </p:spPr>
        <p:txBody>
          <a:bodyPr wrap="square" rtlCol="0" anchor="ctr"/>
          <a:lstStyle/>
          <a:p>
            <a:pPr indent="0" marL="0">
              <a:buNone/>
            </a:pPr>
            <a:r>
              <a:rPr lang="en-US" sz="1900" b="1" dirty="0">
                <a:solidFill>
                  <a:srgbClr val="4472C4"/>
                </a:solidFill>
                <a:latin typeface="Times New Roman" pitchFamily="34" charset="0"/>
                <a:ea typeface="Times New Roman" pitchFamily="34" charset="-122"/>
                <a:cs typeface="Times New Roman" pitchFamily="34" charset="-120"/>
              </a:rPr>
              <a:t>Mục tiêu đề tài</a:t>
            </a:r>
            <a:endParaRPr lang="en-US" sz="1900" dirty="0"/>
          </a:p>
        </p:txBody>
      </p:sp>
      <p:sp>
        <p:nvSpPr>
          <p:cNvPr id="12" name="Text 8"/>
          <p:cNvSpPr/>
          <p:nvPr/>
        </p:nvSpPr>
        <p:spPr>
          <a:xfrm>
            <a:off x="822960" y="1600200"/>
            <a:ext cx="5212080" cy="2377440"/>
          </a:xfrm>
          <a:prstGeom prst="rect">
            <a:avLst/>
          </a:prstGeom>
          <a:noFill/>
          <a:ln/>
        </p:spPr>
        <p:txBody>
          <a:bodyPr wrap="square" rtlCol="0" anchor="t"/>
          <a:lstStyle/>
          <a:p>
            <a:pPr marL="228600" indent="-228600">
              <a:spcAft>
                <a:spcPts val="1000"/>
              </a:spcAft>
              <a:buSzPct val="100000"/>
              <a:buChar char="▪"/>
            </a:pPr>
            <a:r>
              <a:rPr lang="en-US" sz="1550" dirty="0">
                <a:solidFill>
                  <a:srgbClr val="000000"/>
                </a:solidFill>
                <a:latin typeface="Times New Roman" pitchFamily="34" charset="0"/>
                <a:ea typeface="Times New Roman" pitchFamily="34" charset="-122"/>
                <a:cs typeface="Times New Roman" pitchFamily="34" charset="-120"/>
              </a:rPr>
              <a:t>Xây dựng hệ thống hỏi–đáp tri thức kiểu Stack Overflow: đăng câu hỏi, trả lời, bình luận, vote, gắn thẻ (tag).</a:t>
            </a:r>
            <a:endParaRPr lang="en-US" sz="1550" dirty="0"/>
          </a:p>
          <a:p>
            <a:pPr marL="228600" indent="-228600">
              <a:spcAft>
                <a:spcPts val="1000"/>
              </a:spcAft>
              <a:buSzPct val="100000"/>
              <a:buChar char="▪"/>
            </a:pPr>
            <a:r>
              <a:rPr lang="en-US" sz="1550" dirty="0">
                <a:solidFill>
                  <a:srgbClr val="000000"/>
                </a:solidFill>
                <a:latin typeface="Times New Roman" pitchFamily="34" charset="0"/>
                <a:ea typeface="Times New Roman" pitchFamily="34" charset="-122"/>
                <a:cs typeface="Times New Roman" pitchFamily="34" charset="-120"/>
              </a:rPr>
              <a:t>Module tìm kiếm thông minh theo tiêu đề dựa trên Vector Space Model (TF-IDF) và Sentence-BERT.</a:t>
            </a:r>
            <a:endParaRPr lang="en-US" sz="1550" dirty="0"/>
          </a:p>
          <a:p>
            <a:pPr marL="228600" indent="-228600">
              <a:spcAft>
                <a:spcPts val="1000"/>
              </a:spcAft>
              <a:buSzPct val="100000"/>
              <a:buChar char="▪"/>
            </a:pPr>
            <a:r>
              <a:rPr lang="en-US" sz="1550" dirty="0">
                <a:solidFill>
                  <a:srgbClr val="000000"/>
                </a:solidFill>
                <a:latin typeface="Times New Roman" pitchFamily="34" charset="0"/>
                <a:ea typeface="Times New Roman" pitchFamily="34" charset="-122"/>
                <a:cs typeface="Times New Roman" pitchFamily="34" charset="-120"/>
              </a:rPr>
              <a:t>Đo lường, so sánh 2 phương pháp bằng thời gian phản hồi và Precision@K.</a:t>
            </a:r>
            <a:endParaRPr lang="en-US" sz="1550" dirty="0"/>
          </a:p>
        </p:txBody>
      </p:sp>
      <p:sp>
        <p:nvSpPr>
          <p:cNvPr id="13" name="Text 9"/>
          <p:cNvSpPr/>
          <p:nvPr/>
        </p:nvSpPr>
        <p:spPr>
          <a:xfrm>
            <a:off x="6309360" y="1188720"/>
            <a:ext cx="5029200" cy="365760"/>
          </a:xfrm>
          <a:prstGeom prst="rect">
            <a:avLst/>
          </a:prstGeom>
          <a:noFill/>
          <a:ln/>
        </p:spPr>
        <p:txBody>
          <a:bodyPr wrap="square" rtlCol="0" anchor="ctr"/>
          <a:lstStyle/>
          <a:p>
            <a:pPr indent="0" marL="0">
              <a:buNone/>
            </a:pPr>
            <a:r>
              <a:rPr lang="en-US" sz="1900" b="1" dirty="0">
                <a:solidFill>
                  <a:srgbClr val="4472C4"/>
                </a:solidFill>
                <a:latin typeface="Times New Roman" pitchFamily="34" charset="0"/>
                <a:ea typeface="Times New Roman" pitchFamily="34" charset="-122"/>
                <a:cs typeface="Times New Roman" pitchFamily="34" charset="-120"/>
              </a:rPr>
              <a:t>Đối tượng &amp; phạm vi</a:t>
            </a:r>
            <a:endParaRPr lang="en-US" sz="1900" dirty="0"/>
          </a:p>
        </p:txBody>
      </p:sp>
      <p:sp>
        <p:nvSpPr>
          <p:cNvPr id="14" name="Text 10"/>
          <p:cNvSpPr/>
          <p:nvPr/>
        </p:nvSpPr>
        <p:spPr>
          <a:xfrm>
            <a:off x="6309360" y="1600200"/>
            <a:ext cx="5212080" cy="2377440"/>
          </a:xfrm>
          <a:prstGeom prst="rect">
            <a:avLst/>
          </a:prstGeom>
          <a:noFill/>
          <a:ln/>
        </p:spPr>
        <p:txBody>
          <a:bodyPr wrap="square" rtlCol="0" anchor="t"/>
          <a:lstStyle/>
          <a:p>
            <a:pPr marL="228600" indent="-228600">
              <a:spcAft>
                <a:spcPts val="1000"/>
              </a:spcAft>
              <a:buSzPct val="100000"/>
              <a:buChar char="▪"/>
            </a:pPr>
            <a:r>
              <a:rPr lang="en-US" sz="1550" dirty="0">
                <a:solidFill>
                  <a:srgbClr val="000000"/>
                </a:solidFill>
                <a:latin typeface="Times New Roman" pitchFamily="34" charset="0"/>
                <a:ea typeface="Times New Roman" pitchFamily="34" charset="-122"/>
                <a:cs typeface="Times New Roman" pitchFamily="34" charset="-120"/>
              </a:rPr>
              <a:t>Đối tượng: thành viên trong tổ chức cần tra cứu / chia sẻ tri thức kỹ thuật.</a:t>
            </a:r>
            <a:endParaRPr lang="en-US" sz="1550" dirty="0"/>
          </a:p>
          <a:p>
            <a:pPr marL="228600" indent="-228600">
              <a:spcAft>
                <a:spcPts val="1000"/>
              </a:spcAft>
              <a:buSzPct val="100000"/>
              <a:buChar char="▪"/>
            </a:pPr>
            <a:r>
              <a:rPr lang="en-US" sz="1550" dirty="0">
                <a:solidFill>
                  <a:srgbClr val="000000"/>
                </a:solidFill>
                <a:latin typeface="Times New Roman" pitchFamily="34" charset="0"/>
                <a:ea typeface="Times New Roman" pitchFamily="34" charset="-122"/>
                <a:cs typeface="Times New Roman" pitchFamily="34" charset="-120"/>
              </a:rPr>
              <a:t>Phạm vi: 3 nhóm actor — Khách, Thành viên (quyền mở theo reputation), Quản trị viên.</a:t>
            </a:r>
            <a:endParaRPr lang="en-US" sz="1550" dirty="0"/>
          </a:p>
          <a:p>
            <a:pPr marL="228600" indent="-228600">
              <a:spcAft>
                <a:spcPts val="1000"/>
              </a:spcAft>
              <a:buSzPct val="100000"/>
              <a:buChar char="▪"/>
            </a:pPr>
            <a:r>
              <a:rPr lang="en-US" sz="1550" dirty="0">
                <a:solidFill>
                  <a:srgbClr val="000000"/>
                </a:solidFill>
                <a:latin typeface="Times New Roman" pitchFamily="34" charset="0"/>
                <a:ea typeface="Times New Roman" pitchFamily="34" charset="-122"/>
                <a:cs typeface="Times New Roman" pitchFamily="34" charset="-120"/>
              </a:rPr>
              <a:t>Không đi sâu vào fine-tune model NLP riêng — dùng model SBERT pretrained đa ngôn ngữ.</a:t>
            </a:r>
            <a:endParaRPr lang="en-US" sz="1550" dirty="0"/>
          </a:p>
        </p:txBody>
      </p:sp>
      <p:sp>
        <p:nvSpPr>
          <p:cNvPr id="15" name="Text 11"/>
          <p:cNvSpPr/>
          <p:nvPr/>
        </p:nvSpPr>
        <p:spPr>
          <a:xfrm>
            <a:off x="822960" y="4160520"/>
            <a:ext cx="10515600" cy="365760"/>
          </a:xfrm>
          <a:prstGeom prst="rect">
            <a:avLst/>
          </a:prstGeom>
          <a:noFill/>
          <a:ln/>
        </p:spPr>
        <p:txBody>
          <a:bodyPr wrap="square" rtlCol="0" anchor="ctr"/>
          <a:lstStyle/>
          <a:p>
            <a:pPr indent="0" marL="0">
              <a:buNone/>
            </a:pPr>
            <a:r>
              <a:rPr lang="en-US" sz="1900" b="1" dirty="0">
                <a:solidFill>
                  <a:srgbClr val="4472C4"/>
                </a:solidFill>
                <a:latin typeface="Times New Roman" pitchFamily="34" charset="0"/>
                <a:ea typeface="Times New Roman" pitchFamily="34" charset="-122"/>
                <a:cs typeface="Times New Roman" pitchFamily="34" charset="-120"/>
              </a:rPr>
              <a:t>Phương pháp nghiên cứu</a:t>
            </a:r>
            <a:endParaRPr lang="en-US" sz="1900" dirty="0"/>
          </a:p>
        </p:txBody>
      </p:sp>
      <p:sp>
        <p:nvSpPr>
          <p:cNvPr id="16" name="Text 12"/>
          <p:cNvSpPr/>
          <p:nvPr/>
        </p:nvSpPr>
        <p:spPr>
          <a:xfrm>
            <a:off x="822960" y="4572000"/>
            <a:ext cx="10515600" cy="1737360"/>
          </a:xfrm>
          <a:prstGeom prst="rect">
            <a:avLst/>
          </a:prstGeom>
          <a:noFill/>
          <a:ln/>
        </p:spPr>
        <p:txBody>
          <a:bodyPr wrap="square" rtlCol="0" anchor="t"/>
          <a:lstStyle/>
          <a:p>
            <a:pPr marL="228600" indent="-228600">
              <a:spcAft>
                <a:spcPts val="800"/>
              </a:spcAft>
              <a:buSzPct val="100000"/>
              <a:buChar char="▪"/>
            </a:pPr>
            <a:r>
              <a:rPr lang="en-US" sz="1550" dirty="0">
                <a:solidFill>
                  <a:srgbClr val="000000"/>
                </a:solidFill>
                <a:latin typeface="Times New Roman" pitchFamily="34" charset="0"/>
                <a:ea typeface="Times New Roman" pitchFamily="34" charset="-122"/>
                <a:cs typeface="Times New Roman" pitchFamily="34" charset="-120"/>
              </a:rPr>
              <a:t>Phân tích yêu cầu bằng Use Case Diagram; thiết kế dữ liệu bằng ERD (MongoDB, document-based).</a:t>
            </a:r>
            <a:endParaRPr lang="en-US" sz="1550" dirty="0"/>
          </a:p>
          <a:p>
            <a:pPr marL="228600" indent="-228600">
              <a:spcAft>
                <a:spcPts val="800"/>
              </a:spcAft>
              <a:buSzPct val="100000"/>
              <a:buChar char="▪"/>
            </a:pPr>
            <a:r>
              <a:rPr lang="en-US" sz="1550" dirty="0">
                <a:solidFill>
                  <a:srgbClr val="000000"/>
                </a:solidFill>
                <a:latin typeface="Times New Roman" pitchFamily="34" charset="0"/>
                <a:ea typeface="Times New Roman" pitchFamily="34" charset="-122"/>
                <a:cs typeface="Times New Roman" pitchFamily="34" charset="-120"/>
              </a:rPr>
              <a:t>Cài đặt 2 phương pháp vector hoá tiêu đề (TF-IDF cổ điển &amp; SBERT embedding) và đo Cosine Similarity.</a:t>
            </a:r>
            <a:endParaRPr lang="en-US" sz="1550" dirty="0"/>
          </a:p>
          <a:p>
            <a:pPr marL="228600" indent="-228600">
              <a:spcAft>
                <a:spcPts val="800"/>
              </a:spcAft>
              <a:buSzPct val="100000"/>
              <a:buChar char="▪"/>
            </a:pPr>
            <a:r>
              <a:rPr lang="en-US" sz="1550" dirty="0">
                <a:solidFill>
                  <a:srgbClr val="000000"/>
                </a:solidFill>
                <a:latin typeface="Times New Roman" pitchFamily="34" charset="0"/>
                <a:ea typeface="Times New Roman" pitchFamily="34" charset="-122"/>
                <a:cs typeface="Times New Roman" pitchFamily="34" charset="-120"/>
              </a:rPr>
              <a:t>Thực nghiệm định lượng trên bộ dữ liệu thật (5.969 câu hỏi) với 15 truy vấn kiểm thử, đo 5 lần lấy trung bình.</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logo_big.png">    </p:cNvPr>
          <p:cNvPicPr>
            <a:picLocks noChangeAspect="1"/>
          </p:cNvPicPr>
          <p:nvPr/>
        </p:nvPicPr>
        <p:blipFill>
          <a:blip r:embed="rId1"/>
          <a:stretch>
            <a:fillRect/>
          </a:stretch>
        </p:blipFill>
        <p:spPr>
          <a:xfrm>
            <a:off x="164592" y="128016"/>
            <a:ext cx="960120" cy="960120"/>
          </a:xfrm>
          <a:prstGeom prst="rect">
            <a:avLst/>
          </a:prstGeom>
        </p:spPr>
      </p:pic>
      <p:sp>
        <p:nvSpPr>
          <p:cNvPr id="3" name="Text 0"/>
          <p:cNvSpPr/>
          <p:nvPr/>
        </p:nvSpPr>
        <p:spPr>
          <a:xfrm>
            <a:off x="1371600" y="109728"/>
            <a:ext cx="10545775" cy="777240"/>
          </a:xfrm>
          <a:prstGeom prst="rect">
            <a:avLst/>
          </a:prstGeom>
          <a:noFill/>
          <a:ln/>
        </p:spPr>
        <p:txBody>
          <a:bodyPr wrap="square" lIns="0" tIns="0" rIns="0" bIns="0" rtlCol="0" anchor="ctr"/>
          <a:lstStyle/>
          <a:p>
            <a:pPr algn="ctr" indent="0" marL="0">
              <a:buNone/>
            </a:pPr>
            <a:r>
              <a:rPr lang="en-US" sz="2600" b="1" dirty="0">
                <a:solidFill>
                  <a:srgbClr val="4472C4"/>
                </a:solidFill>
                <a:latin typeface="Times New Roman" pitchFamily="34" charset="0"/>
                <a:ea typeface="Times New Roman" pitchFamily="34" charset="-122"/>
                <a:cs typeface="Times New Roman" pitchFamily="34" charset="-120"/>
              </a:rPr>
              <a:t>PHÂN TÍCH YÊU CẦU — SƠ ĐỒ USE CASE</a:t>
            </a:r>
            <a:endParaRPr lang="en-US" sz="2600" dirty="0"/>
          </a:p>
        </p:txBody>
      </p:sp>
      <p:sp>
        <p:nvSpPr>
          <p:cNvPr id="4" name="Shape 1"/>
          <p:cNvSpPr/>
          <p:nvPr/>
        </p:nvSpPr>
        <p:spPr>
          <a:xfrm>
            <a:off x="1371600" y="932688"/>
            <a:ext cx="10545775" cy="0"/>
          </a:xfrm>
          <a:prstGeom prst="line">
            <a:avLst/>
          </a:prstGeom>
          <a:noFill/>
          <a:ln w="19050">
            <a:solidFill>
              <a:srgbClr val="4472C4"/>
            </a:solidFill>
            <a:prstDash val="solid"/>
          </a:ln>
        </p:spPr>
      </p:sp>
      <p:pic>
        <p:nvPicPr>
          <p:cNvPr id="5" name="Image 1" descr="logo_small.png">    </p:cNvPr>
          <p:cNvPicPr>
            <a:picLocks noChangeAspect="1"/>
          </p:cNvPicPr>
          <p:nvPr/>
        </p:nvPicPr>
        <p:blipFill>
          <a:blip r:embed="rId2"/>
          <a:stretch>
            <a:fillRect/>
          </a:stretch>
        </p:blipFill>
        <p:spPr>
          <a:xfrm>
            <a:off x="256032" y="6473952"/>
            <a:ext cx="292608" cy="292608"/>
          </a:xfrm>
          <a:prstGeom prst="rect">
            <a:avLst/>
          </a:prstGeom>
        </p:spPr>
      </p:pic>
      <p:sp>
        <p:nvSpPr>
          <p:cNvPr id="6" name="Text 2"/>
          <p:cNvSpPr/>
          <p:nvPr/>
        </p:nvSpPr>
        <p:spPr>
          <a:xfrm>
            <a:off x="594360" y="6437376"/>
            <a:ext cx="3200400" cy="219456"/>
          </a:xfrm>
          <a:prstGeom prst="rect">
            <a:avLst/>
          </a:prstGeom>
          <a:noFill/>
          <a:ln/>
        </p:spPr>
        <p:txBody>
          <a:bodyPr wrap="square" lIns="0" tIns="0" rIns="0" bIns="0" rtlCol="0" anchor="t"/>
          <a:lstStyle/>
          <a:p>
            <a:pPr indent="0" marL="0">
              <a:buNone/>
            </a:pPr>
            <a:r>
              <a:rPr lang="en-US" sz="1200" b="1" dirty="0">
                <a:solidFill>
                  <a:srgbClr val="4472C4"/>
                </a:solidFill>
                <a:latin typeface="Times New Roman" pitchFamily="34" charset="0"/>
                <a:ea typeface="Times New Roman" pitchFamily="34" charset="-122"/>
                <a:cs typeface="Times New Roman" pitchFamily="34" charset="-120"/>
              </a:rPr>
              <a:t>ĐẠI HỌC CẦN THƠ</a:t>
            </a:r>
            <a:endParaRPr lang="en-US" sz="1200" dirty="0"/>
          </a:p>
        </p:txBody>
      </p:sp>
      <p:sp>
        <p:nvSpPr>
          <p:cNvPr id="7" name="Text 3"/>
          <p:cNvSpPr/>
          <p:nvPr/>
        </p:nvSpPr>
        <p:spPr>
          <a:xfrm>
            <a:off x="594360" y="6638544"/>
            <a:ext cx="3200400" cy="182880"/>
          </a:xfrm>
          <a:prstGeom prst="rect">
            <a:avLst/>
          </a:prstGeom>
          <a:noFill/>
          <a:ln/>
        </p:spPr>
        <p:txBody>
          <a:bodyPr wrap="square" lIns="0" tIns="0" rIns="0" bIns="0" rtlCol="0" anchor="ctr"/>
          <a:lstStyle/>
          <a:p>
            <a:pPr indent="0" marL="0">
              <a:buNone/>
            </a:pPr>
            <a:r>
              <a:rPr lang="en-US" sz="700" dirty="0">
                <a:solidFill>
                  <a:srgbClr val="7F7F7F"/>
                </a:solidFill>
                <a:latin typeface="Arial" pitchFamily="34" charset="0"/>
                <a:ea typeface="Arial" pitchFamily="34" charset="-122"/>
                <a:cs typeface="Arial" pitchFamily="34" charset="-120"/>
              </a:rPr>
              <a:t>Cộng đồng - Toàn diện - Ưu việt</a:t>
            </a:r>
            <a:endParaRPr lang="en-US" sz="700" dirty="0"/>
          </a:p>
        </p:txBody>
      </p:sp>
      <p:sp>
        <p:nvSpPr>
          <p:cNvPr id="8" name="Shape 4"/>
          <p:cNvSpPr/>
          <p:nvPr/>
        </p:nvSpPr>
        <p:spPr>
          <a:xfrm>
            <a:off x="2011680" y="6638544"/>
            <a:ext cx="8351215" cy="0"/>
          </a:xfrm>
          <a:prstGeom prst="line">
            <a:avLst/>
          </a:prstGeom>
          <a:noFill/>
          <a:ln w="15875">
            <a:solidFill>
              <a:srgbClr val="01B0F1"/>
            </a:solidFill>
            <a:prstDash val="solid"/>
          </a:ln>
        </p:spPr>
      </p:sp>
      <p:sp>
        <p:nvSpPr>
          <p:cNvPr id="9" name="Text 5"/>
          <p:cNvSpPr/>
          <p:nvPr/>
        </p:nvSpPr>
        <p:spPr>
          <a:xfrm>
            <a:off x="10362895" y="6473952"/>
            <a:ext cx="1554480" cy="256032"/>
          </a:xfrm>
          <a:prstGeom prst="rect">
            <a:avLst/>
          </a:prstGeom>
          <a:noFill/>
          <a:ln/>
        </p:spPr>
        <p:txBody>
          <a:bodyPr wrap="square" lIns="0" tIns="0" rIns="0" bIns="0" rtlCol="0" anchor="t"/>
          <a:lstStyle/>
          <a:p>
            <a:pPr algn="r" indent="0" marL="0">
              <a:buNone/>
            </a:pPr>
            <a:r>
              <a:rPr lang="en-US" sz="1100" b="1" dirty="0">
                <a:solidFill>
                  <a:srgbClr val="01B0F1"/>
                </a:solidFill>
                <a:latin typeface="Arial" pitchFamily="34" charset="0"/>
                <a:ea typeface="Arial" pitchFamily="34" charset="-122"/>
                <a:cs typeface="Arial" pitchFamily="34" charset="-120"/>
              </a:rPr>
              <a:t>www.ctu.edu.vn</a:t>
            </a:r>
            <a:endParaRPr lang="en-US" sz="1100" dirty="0"/>
          </a:p>
        </p:txBody>
      </p:sp>
      <p:sp>
        <p:nvSpPr>
          <p:cNvPr id="10" name="Text 6"/>
          <p:cNvSpPr/>
          <p:nvPr/>
        </p:nvSpPr>
        <p:spPr>
          <a:xfrm>
            <a:off x="11871655" y="6473952"/>
            <a:ext cx="274320" cy="256032"/>
          </a:xfrm>
          <a:prstGeom prst="rect">
            <a:avLst/>
          </a:prstGeom>
          <a:solidFill>
            <a:srgbClr val="01B0F1"/>
          </a:solid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pic>
        <p:nvPicPr>
          <p:cNvPr id="11" name="Image 2" descr="usecase_diagram.png">    </p:cNvPr>
          <p:cNvPicPr>
            <a:picLocks noChangeAspect="1"/>
          </p:cNvPicPr>
          <p:nvPr/>
        </p:nvPicPr>
        <p:blipFill>
          <a:blip r:embed="rId3"/>
          <a:srcRect l="0" r="0" t="0" b="0"/>
          <a:stretch/>
        </p:blipFill>
        <p:spPr>
          <a:xfrm>
            <a:off x="2148840" y="1097280"/>
            <a:ext cx="7863840" cy="53492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logo_big.png">    </p:cNvPr>
          <p:cNvPicPr>
            <a:picLocks noChangeAspect="1"/>
          </p:cNvPicPr>
          <p:nvPr/>
        </p:nvPicPr>
        <p:blipFill>
          <a:blip r:embed="rId1"/>
          <a:stretch>
            <a:fillRect/>
          </a:stretch>
        </p:blipFill>
        <p:spPr>
          <a:xfrm>
            <a:off x="164592" y="128016"/>
            <a:ext cx="960120" cy="960120"/>
          </a:xfrm>
          <a:prstGeom prst="rect">
            <a:avLst/>
          </a:prstGeom>
        </p:spPr>
      </p:pic>
      <p:sp>
        <p:nvSpPr>
          <p:cNvPr id="3" name="Text 0"/>
          <p:cNvSpPr/>
          <p:nvPr/>
        </p:nvSpPr>
        <p:spPr>
          <a:xfrm>
            <a:off x="1371600" y="109728"/>
            <a:ext cx="10545775" cy="777240"/>
          </a:xfrm>
          <a:prstGeom prst="rect">
            <a:avLst/>
          </a:prstGeom>
          <a:noFill/>
          <a:ln/>
        </p:spPr>
        <p:txBody>
          <a:bodyPr wrap="square" lIns="0" tIns="0" rIns="0" bIns="0" rtlCol="0" anchor="ctr"/>
          <a:lstStyle/>
          <a:p>
            <a:pPr algn="ctr" indent="0" marL="0">
              <a:buNone/>
            </a:pPr>
            <a:r>
              <a:rPr lang="en-US" sz="2600" b="1" dirty="0">
                <a:solidFill>
                  <a:srgbClr val="4472C4"/>
                </a:solidFill>
                <a:latin typeface="Times New Roman" pitchFamily="34" charset="0"/>
                <a:ea typeface="Times New Roman" pitchFamily="34" charset="-122"/>
                <a:cs typeface="Times New Roman" pitchFamily="34" charset="-120"/>
              </a:rPr>
              <a:t>THIẾT KẾ DỮ LIỆU (ERD) — MONGODB COLLECTIONS</a:t>
            </a:r>
            <a:endParaRPr lang="en-US" sz="2600" dirty="0"/>
          </a:p>
        </p:txBody>
      </p:sp>
      <p:sp>
        <p:nvSpPr>
          <p:cNvPr id="4" name="Shape 1"/>
          <p:cNvSpPr/>
          <p:nvPr/>
        </p:nvSpPr>
        <p:spPr>
          <a:xfrm>
            <a:off x="1371600" y="932688"/>
            <a:ext cx="10545775" cy="0"/>
          </a:xfrm>
          <a:prstGeom prst="line">
            <a:avLst/>
          </a:prstGeom>
          <a:noFill/>
          <a:ln w="19050">
            <a:solidFill>
              <a:srgbClr val="4472C4"/>
            </a:solidFill>
            <a:prstDash val="solid"/>
          </a:ln>
        </p:spPr>
      </p:sp>
      <p:pic>
        <p:nvPicPr>
          <p:cNvPr id="5" name="Image 1" descr="logo_small.png">    </p:cNvPr>
          <p:cNvPicPr>
            <a:picLocks noChangeAspect="1"/>
          </p:cNvPicPr>
          <p:nvPr/>
        </p:nvPicPr>
        <p:blipFill>
          <a:blip r:embed="rId2"/>
          <a:stretch>
            <a:fillRect/>
          </a:stretch>
        </p:blipFill>
        <p:spPr>
          <a:xfrm>
            <a:off x="256032" y="6473952"/>
            <a:ext cx="292608" cy="292608"/>
          </a:xfrm>
          <a:prstGeom prst="rect">
            <a:avLst/>
          </a:prstGeom>
        </p:spPr>
      </p:pic>
      <p:sp>
        <p:nvSpPr>
          <p:cNvPr id="6" name="Text 2"/>
          <p:cNvSpPr/>
          <p:nvPr/>
        </p:nvSpPr>
        <p:spPr>
          <a:xfrm>
            <a:off x="594360" y="6437376"/>
            <a:ext cx="3200400" cy="219456"/>
          </a:xfrm>
          <a:prstGeom prst="rect">
            <a:avLst/>
          </a:prstGeom>
          <a:noFill/>
          <a:ln/>
        </p:spPr>
        <p:txBody>
          <a:bodyPr wrap="square" lIns="0" tIns="0" rIns="0" bIns="0" rtlCol="0" anchor="t"/>
          <a:lstStyle/>
          <a:p>
            <a:pPr indent="0" marL="0">
              <a:buNone/>
            </a:pPr>
            <a:r>
              <a:rPr lang="en-US" sz="1200" b="1" dirty="0">
                <a:solidFill>
                  <a:srgbClr val="4472C4"/>
                </a:solidFill>
                <a:latin typeface="Times New Roman" pitchFamily="34" charset="0"/>
                <a:ea typeface="Times New Roman" pitchFamily="34" charset="-122"/>
                <a:cs typeface="Times New Roman" pitchFamily="34" charset="-120"/>
              </a:rPr>
              <a:t>ĐẠI HỌC CẦN THƠ</a:t>
            </a:r>
            <a:endParaRPr lang="en-US" sz="1200" dirty="0"/>
          </a:p>
        </p:txBody>
      </p:sp>
      <p:sp>
        <p:nvSpPr>
          <p:cNvPr id="7" name="Text 3"/>
          <p:cNvSpPr/>
          <p:nvPr/>
        </p:nvSpPr>
        <p:spPr>
          <a:xfrm>
            <a:off x="594360" y="6638544"/>
            <a:ext cx="3200400" cy="182880"/>
          </a:xfrm>
          <a:prstGeom prst="rect">
            <a:avLst/>
          </a:prstGeom>
          <a:noFill/>
          <a:ln/>
        </p:spPr>
        <p:txBody>
          <a:bodyPr wrap="square" lIns="0" tIns="0" rIns="0" bIns="0" rtlCol="0" anchor="ctr"/>
          <a:lstStyle/>
          <a:p>
            <a:pPr indent="0" marL="0">
              <a:buNone/>
            </a:pPr>
            <a:r>
              <a:rPr lang="en-US" sz="700" dirty="0">
                <a:solidFill>
                  <a:srgbClr val="7F7F7F"/>
                </a:solidFill>
                <a:latin typeface="Arial" pitchFamily="34" charset="0"/>
                <a:ea typeface="Arial" pitchFamily="34" charset="-122"/>
                <a:cs typeface="Arial" pitchFamily="34" charset="-120"/>
              </a:rPr>
              <a:t>Cộng đồng - Toàn diện - Ưu việt</a:t>
            </a:r>
            <a:endParaRPr lang="en-US" sz="700" dirty="0"/>
          </a:p>
        </p:txBody>
      </p:sp>
      <p:sp>
        <p:nvSpPr>
          <p:cNvPr id="8" name="Shape 4"/>
          <p:cNvSpPr/>
          <p:nvPr/>
        </p:nvSpPr>
        <p:spPr>
          <a:xfrm>
            <a:off x="2011680" y="6638544"/>
            <a:ext cx="8351215" cy="0"/>
          </a:xfrm>
          <a:prstGeom prst="line">
            <a:avLst/>
          </a:prstGeom>
          <a:noFill/>
          <a:ln w="15875">
            <a:solidFill>
              <a:srgbClr val="01B0F1"/>
            </a:solidFill>
            <a:prstDash val="solid"/>
          </a:ln>
        </p:spPr>
      </p:sp>
      <p:sp>
        <p:nvSpPr>
          <p:cNvPr id="9" name="Text 5"/>
          <p:cNvSpPr/>
          <p:nvPr/>
        </p:nvSpPr>
        <p:spPr>
          <a:xfrm>
            <a:off x="10362895" y="6473952"/>
            <a:ext cx="1554480" cy="256032"/>
          </a:xfrm>
          <a:prstGeom prst="rect">
            <a:avLst/>
          </a:prstGeom>
          <a:noFill/>
          <a:ln/>
        </p:spPr>
        <p:txBody>
          <a:bodyPr wrap="square" lIns="0" tIns="0" rIns="0" bIns="0" rtlCol="0" anchor="t"/>
          <a:lstStyle/>
          <a:p>
            <a:pPr algn="r" indent="0" marL="0">
              <a:buNone/>
            </a:pPr>
            <a:r>
              <a:rPr lang="en-US" sz="1100" b="1" dirty="0">
                <a:solidFill>
                  <a:srgbClr val="01B0F1"/>
                </a:solidFill>
                <a:latin typeface="Arial" pitchFamily="34" charset="0"/>
                <a:ea typeface="Arial" pitchFamily="34" charset="-122"/>
                <a:cs typeface="Arial" pitchFamily="34" charset="-120"/>
              </a:rPr>
              <a:t>www.ctu.edu.vn</a:t>
            </a:r>
            <a:endParaRPr lang="en-US" sz="1100" dirty="0"/>
          </a:p>
        </p:txBody>
      </p:sp>
      <p:sp>
        <p:nvSpPr>
          <p:cNvPr id="10" name="Text 6"/>
          <p:cNvSpPr/>
          <p:nvPr/>
        </p:nvSpPr>
        <p:spPr>
          <a:xfrm>
            <a:off x="11871655" y="6473952"/>
            <a:ext cx="274320" cy="256032"/>
          </a:xfrm>
          <a:prstGeom prst="rect">
            <a:avLst/>
          </a:prstGeom>
          <a:solidFill>
            <a:srgbClr val="01B0F1"/>
          </a:solid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pic>
        <p:nvPicPr>
          <p:cNvPr id="11" name="Image 2" descr="erd_diagram.png">    </p:cNvPr>
          <p:cNvPicPr>
            <a:picLocks noChangeAspect="1"/>
          </p:cNvPicPr>
          <p:nvPr/>
        </p:nvPicPr>
        <p:blipFill>
          <a:blip r:embed="rId3"/>
          <a:srcRect l="0" r="0" t="0" b="0"/>
          <a:stretch/>
        </p:blipFill>
        <p:spPr>
          <a:xfrm>
            <a:off x="1371600" y="1051560"/>
            <a:ext cx="9418320" cy="539496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logo_big.png">    </p:cNvPr>
          <p:cNvPicPr>
            <a:picLocks noChangeAspect="1"/>
          </p:cNvPicPr>
          <p:nvPr/>
        </p:nvPicPr>
        <p:blipFill>
          <a:blip r:embed="rId1"/>
          <a:stretch>
            <a:fillRect/>
          </a:stretch>
        </p:blipFill>
        <p:spPr>
          <a:xfrm>
            <a:off x="164592" y="128016"/>
            <a:ext cx="960120" cy="960120"/>
          </a:xfrm>
          <a:prstGeom prst="rect">
            <a:avLst/>
          </a:prstGeom>
        </p:spPr>
      </p:pic>
      <p:sp>
        <p:nvSpPr>
          <p:cNvPr id="3" name="Text 0"/>
          <p:cNvSpPr/>
          <p:nvPr/>
        </p:nvSpPr>
        <p:spPr>
          <a:xfrm>
            <a:off x="1371600" y="109728"/>
            <a:ext cx="10545775" cy="777240"/>
          </a:xfrm>
          <a:prstGeom prst="rect">
            <a:avLst/>
          </a:prstGeom>
          <a:noFill/>
          <a:ln/>
        </p:spPr>
        <p:txBody>
          <a:bodyPr wrap="square" lIns="0" tIns="0" rIns="0" bIns="0" rtlCol="0" anchor="ctr"/>
          <a:lstStyle/>
          <a:p>
            <a:pPr algn="ctr" indent="0" marL="0">
              <a:buNone/>
            </a:pPr>
            <a:r>
              <a:rPr lang="en-US" sz="2600" b="1" dirty="0">
                <a:solidFill>
                  <a:srgbClr val="4472C4"/>
                </a:solidFill>
                <a:latin typeface="Times New Roman" pitchFamily="34" charset="0"/>
                <a:ea typeface="Times New Roman" pitchFamily="34" charset="-122"/>
                <a:cs typeface="Times New Roman" pitchFamily="34" charset="-120"/>
              </a:rPr>
              <a:t>GIẢI THUẬT — LUỒNG XÂY DỰNG CHỈ MỤC (INDEX)</a:t>
            </a:r>
            <a:endParaRPr lang="en-US" sz="2600" dirty="0"/>
          </a:p>
        </p:txBody>
      </p:sp>
      <p:sp>
        <p:nvSpPr>
          <p:cNvPr id="4" name="Shape 1"/>
          <p:cNvSpPr/>
          <p:nvPr/>
        </p:nvSpPr>
        <p:spPr>
          <a:xfrm>
            <a:off x="1371600" y="932688"/>
            <a:ext cx="10545775" cy="0"/>
          </a:xfrm>
          <a:prstGeom prst="line">
            <a:avLst/>
          </a:prstGeom>
          <a:noFill/>
          <a:ln w="19050">
            <a:solidFill>
              <a:srgbClr val="4472C4"/>
            </a:solidFill>
            <a:prstDash val="solid"/>
          </a:ln>
        </p:spPr>
      </p:sp>
      <p:pic>
        <p:nvPicPr>
          <p:cNvPr id="5" name="Image 1" descr="logo_small.png">    </p:cNvPr>
          <p:cNvPicPr>
            <a:picLocks noChangeAspect="1"/>
          </p:cNvPicPr>
          <p:nvPr/>
        </p:nvPicPr>
        <p:blipFill>
          <a:blip r:embed="rId2"/>
          <a:stretch>
            <a:fillRect/>
          </a:stretch>
        </p:blipFill>
        <p:spPr>
          <a:xfrm>
            <a:off x="256032" y="6473952"/>
            <a:ext cx="292608" cy="292608"/>
          </a:xfrm>
          <a:prstGeom prst="rect">
            <a:avLst/>
          </a:prstGeom>
        </p:spPr>
      </p:pic>
      <p:sp>
        <p:nvSpPr>
          <p:cNvPr id="6" name="Text 2"/>
          <p:cNvSpPr/>
          <p:nvPr/>
        </p:nvSpPr>
        <p:spPr>
          <a:xfrm>
            <a:off x="594360" y="6437376"/>
            <a:ext cx="3200400" cy="219456"/>
          </a:xfrm>
          <a:prstGeom prst="rect">
            <a:avLst/>
          </a:prstGeom>
          <a:noFill/>
          <a:ln/>
        </p:spPr>
        <p:txBody>
          <a:bodyPr wrap="square" lIns="0" tIns="0" rIns="0" bIns="0" rtlCol="0" anchor="t"/>
          <a:lstStyle/>
          <a:p>
            <a:pPr indent="0" marL="0">
              <a:buNone/>
            </a:pPr>
            <a:r>
              <a:rPr lang="en-US" sz="1200" b="1" dirty="0">
                <a:solidFill>
                  <a:srgbClr val="4472C4"/>
                </a:solidFill>
                <a:latin typeface="Times New Roman" pitchFamily="34" charset="0"/>
                <a:ea typeface="Times New Roman" pitchFamily="34" charset="-122"/>
                <a:cs typeface="Times New Roman" pitchFamily="34" charset="-120"/>
              </a:rPr>
              <a:t>ĐẠI HỌC CẦN THƠ</a:t>
            </a:r>
            <a:endParaRPr lang="en-US" sz="1200" dirty="0"/>
          </a:p>
        </p:txBody>
      </p:sp>
      <p:sp>
        <p:nvSpPr>
          <p:cNvPr id="7" name="Text 3"/>
          <p:cNvSpPr/>
          <p:nvPr/>
        </p:nvSpPr>
        <p:spPr>
          <a:xfrm>
            <a:off x="594360" y="6638544"/>
            <a:ext cx="3200400" cy="182880"/>
          </a:xfrm>
          <a:prstGeom prst="rect">
            <a:avLst/>
          </a:prstGeom>
          <a:noFill/>
          <a:ln/>
        </p:spPr>
        <p:txBody>
          <a:bodyPr wrap="square" lIns="0" tIns="0" rIns="0" bIns="0" rtlCol="0" anchor="ctr"/>
          <a:lstStyle/>
          <a:p>
            <a:pPr indent="0" marL="0">
              <a:buNone/>
            </a:pPr>
            <a:r>
              <a:rPr lang="en-US" sz="700" dirty="0">
                <a:solidFill>
                  <a:srgbClr val="7F7F7F"/>
                </a:solidFill>
                <a:latin typeface="Arial" pitchFamily="34" charset="0"/>
                <a:ea typeface="Arial" pitchFamily="34" charset="-122"/>
                <a:cs typeface="Arial" pitchFamily="34" charset="-120"/>
              </a:rPr>
              <a:t>Cộng đồng - Toàn diện - Ưu việt</a:t>
            </a:r>
            <a:endParaRPr lang="en-US" sz="700" dirty="0"/>
          </a:p>
        </p:txBody>
      </p:sp>
      <p:sp>
        <p:nvSpPr>
          <p:cNvPr id="8" name="Shape 4"/>
          <p:cNvSpPr/>
          <p:nvPr/>
        </p:nvSpPr>
        <p:spPr>
          <a:xfrm>
            <a:off x="2011680" y="6638544"/>
            <a:ext cx="8351215" cy="0"/>
          </a:xfrm>
          <a:prstGeom prst="line">
            <a:avLst/>
          </a:prstGeom>
          <a:noFill/>
          <a:ln w="15875">
            <a:solidFill>
              <a:srgbClr val="01B0F1"/>
            </a:solidFill>
            <a:prstDash val="solid"/>
          </a:ln>
        </p:spPr>
      </p:sp>
      <p:sp>
        <p:nvSpPr>
          <p:cNvPr id="9" name="Text 5"/>
          <p:cNvSpPr/>
          <p:nvPr/>
        </p:nvSpPr>
        <p:spPr>
          <a:xfrm>
            <a:off x="10362895" y="6473952"/>
            <a:ext cx="1554480" cy="256032"/>
          </a:xfrm>
          <a:prstGeom prst="rect">
            <a:avLst/>
          </a:prstGeom>
          <a:noFill/>
          <a:ln/>
        </p:spPr>
        <p:txBody>
          <a:bodyPr wrap="square" lIns="0" tIns="0" rIns="0" bIns="0" rtlCol="0" anchor="t"/>
          <a:lstStyle/>
          <a:p>
            <a:pPr algn="r" indent="0" marL="0">
              <a:buNone/>
            </a:pPr>
            <a:r>
              <a:rPr lang="en-US" sz="1100" b="1" dirty="0">
                <a:solidFill>
                  <a:srgbClr val="01B0F1"/>
                </a:solidFill>
                <a:latin typeface="Arial" pitchFamily="34" charset="0"/>
                <a:ea typeface="Arial" pitchFamily="34" charset="-122"/>
                <a:cs typeface="Arial" pitchFamily="34" charset="-120"/>
              </a:rPr>
              <a:t>www.ctu.edu.vn</a:t>
            </a:r>
            <a:endParaRPr lang="en-US" sz="1100" dirty="0"/>
          </a:p>
        </p:txBody>
      </p:sp>
      <p:sp>
        <p:nvSpPr>
          <p:cNvPr id="10" name="Text 6"/>
          <p:cNvSpPr/>
          <p:nvPr/>
        </p:nvSpPr>
        <p:spPr>
          <a:xfrm>
            <a:off x="11871655" y="6473952"/>
            <a:ext cx="274320" cy="256032"/>
          </a:xfrm>
          <a:prstGeom prst="rect">
            <a:avLst/>
          </a:prstGeom>
          <a:solidFill>
            <a:srgbClr val="01B0F1"/>
          </a:solid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7</a:t>
            </a:r>
            <a:endParaRPr lang="en-US" sz="1000" dirty="0"/>
          </a:p>
        </p:txBody>
      </p:sp>
      <p:sp>
        <p:nvSpPr>
          <p:cNvPr id="11" name="Text 7"/>
          <p:cNvSpPr/>
          <p:nvPr/>
        </p:nvSpPr>
        <p:spPr>
          <a:xfrm>
            <a:off x="822960" y="1234440"/>
            <a:ext cx="10515600" cy="5120640"/>
          </a:xfrm>
          <a:prstGeom prst="rect">
            <a:avLst/>
          </a:prstGeom>
          <a:noFill/>
          <a:ln/>
        </p:spPr>
        <p:txBody>
          <a:bodyPr wrap="square" rtlCol="0" anchor="t"/>
          <a:lstStyle/>
          <a:p>
            <a:pPr marL="228600" indent="-228600">
              <a:spcAft>
                <a:spcPts val="1600"/>
              </a:spcAft>
              <a:buSzPct val="100000"/>
              <a:buChar char="▪"/>
            </a:pPr>
            <a:r>
              <a:rPr lang="en-US" sz="1700" dirty="0">
                <a:solidFill>
                  <a:srgbClr val="000000"/>
                </a:solidFill>
                <a:latin typeface="Times New Roman" pitchFamily="34" charset="0"/>
                <a:ea typeface="Times New Roman" pitchFamily="34" charset="-122"/>
                <a:cs typeface="Times New Roman" pitchFamily="34" charset="-120"/>
              </a:rPr>
              <a:t>Tiền xử lý tiêu đề: chuyển chữ thường, tách từ, bỏ stop-word.</a:t>
            </a:r>
            <a:endParaRPr lang="en-US" sz="1700" dirty="0"/>
          </a:p>
          <a:p>
            <a:pPr marL="228600" indent="-228600">
              <a:spcAft>
                <a:spcPts val="1600"/>
              </a:spcAft>
              <a:buSzPct val="100000"/>
              <a:buChar char="▪"/>
            </a:pPr>
            <a:r>
              <a:rPr lang="en-US" sz="1700" dirty="0">
                <a:solidFill>
                  <a:srgbClr val="000000"/>
                </a:solidFill>
                <a:latin typeface="Times New Roman" pitchFamily="34" charset="0"/>
                <a:ea typeface="Times New Roman" pitchFamily="34" charset="-122"/>
                <a:cs typeface="Times New Roman" pitchFamily="34" charset="-120"/>
              </a:rPr>
              <a:t>TF-IDF (Vector Space Model): trọng số mỗi từ = tần suất từ (TF) × nghịch đảo tần suất văn bản (IDF); lưu vector thưa (sparse) theo từng câu hỏi.</a:t>
            </a:r>
            <a:endParaRPr lang="en-US" sz="1700" dirty="0"/>
          </a:p>
          <a:p>
            <a:pPr marL="228600" indent="-228600">
              <a:spcAft>
                <a:spcPts val="1600"/>
              </a:spcAft>
              <a:buSzPct val="100000"/>
              <a:buChar char="▪"/>
            </a:pPr>
            <a:r>
              <a:rPr lang="en-US" sz="1700" dirty="0">
                <a:solidFill>
                  <a:srgbClr val="000000"/>
                </a:solidFill>
                <a:latin typeface="Times New Roman" pitchFamily="34" charset="0"/>
                <a:ea typeface="Times New Roman" pitchFamily="34" charset="-122"/>
                <a:cs typeface="Times New Roman" pitchFamily="34" charset="-120"/>
              </a:rPr>
              <a:t>SBERT (Sentence-BERT): encode toàn bộ tiêu đề bằng model pretrained đa ngôn ngữ paraphrase-multilingual-MiniLM-L12-v2 → vector embedding 384 chiều, L2-normalize.</a:t>
            </a:r>
            <a:endParaRPr lang="en-US" sz="1700" dirty="0"/>
          </a:p>
          <a:p>
            <a:pPr marL="228600" indent="-228600">
              <a:spcAft>
                <a:spcPts val="1600"/>
              </a:spcAft>
              <a:buSzPct val="100000"/>
              <a:buChar char="▪"/>
            </a:pPr>
            <a:r>
              <a:rPr lang="en-US" sz="1700" dirty="0">
                <a:solidFill>
                  <a:srgbClr val="000000"/>
                </a:solidFill>
                <a:latin typeface="Times New Roman" pitchFamily="34" charset="0"/>
                <a:ea typeface="Times New Roman" pitchFamily="34" charset="-122"/>
                <a:cs typeface="Times New Roman" pitchFamily="34" charset="-120"/>
              </a:rPr>
              <a:t>Lưu cả 2 loại vector vào MongoDB (collection question_vectors_tfidf / question_vectors_sbert), tách riêng khỏi document câu hỏi chính.</a:t>
            </a:r>
            <a:endParaRPr lang="en-US" sz="1700" dirty="0"/>
          </a:p>
          <a:p>
            <a:pPr marL="228600" indent="-228600">
              <a:spcAft>
                <a:spcPts val="1600"/>
              </a:spcAft>
              <a:buSzPct val="100000"/>
              <a:buChar char="▪"/>
            </a:pPr>
            <a:r>
              <a:rPr lang="en-US" sz="1700" b="1" dirty="0">
                <a:solidFill>
                  <a:srgbClr val="000000"/>
                </a:solidFill>
                <a:latin typeface="Times New Roman" pitchFamily="34" charset="0"/>
                <a:ea typeface="Times New Roman" pitchFamily="34" charset="-122"/>
                <a:cs typeface="Times New Roman" pitchFamily="34" charset="-120"/>
              </a:rPr>
              <a:t>Model &amp; vocabulary được load 1 lần lúc khởi động service, giữ trong RAM suốt vòng đời — không truy vấn lại MongoDB ở mỗi lượt tìm kiếm.</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logo_big.png">    </p:cNvPr>
          <p:cNvPicPr>
            <a:picLocks noChangeAspect="1"/>
          </p:cNvPicPr>
          <p:nvPr/>
        </p:nvPicPr>
        <p:blipFill>
          <a:blip r:embed="rId1"/>
          <a:stretch>
            <a:fillRect/>
          </a:stretch>
        </p:blipFill>
        <p:spPr>
          <a:xfrm>
            <a:off x="164592" y="128016"/>
            <a:ext cx="960120" cy="960120"/>
          </a:xfrm>
          <a:prstGeom prst="rect">
            <a:avLst/>
          </a:prstGeom>
        </p:spPr>
      </p:pic>
      <p:sp>
        <p:nvSpPr>
          <p:cNvPr id="3" name="Text 0"/>
          <p:cNvSpPr/>
          <p:nvPr/>
        </p:nvSpPr>
        <p:spPr>
          <a:xfrm>
            <a:off x="1371600" y="109728"/>
            <a:ext cx="10545775" cy="777240"/>
          </a:xfrm>
          <a:prstGeom prst="rect">
            <a:avLst/>
          </a:prstGeom>
          <a:noFill/>
          <a:ln/>
        </p:spPr>
        <p:txBody>
          <a:bodyPr wrap="square" lIns="0" tIns="0" rIns="0" bIns="0" rtlCol="0" anchor="ctr"/>
          <a:lstStyle/>
          <a:p>
            <a:pPr algn="ctr" indent="0" marL="0">
              <a:buNone/>
            </a:pPr>
            <a:r>
              <a:rPr lang="en-US" sz="2600" b="1" dirty="0">
                <a:solidFill>
                  <a:srgbClr val="4472C4"/>
                </a:solidFill>
                <a:latin typeface="Times New Roman" pitchFamily="34" charset="0"/>
                <a:ea typeface="Times New Roman" pitchFamily="34" charset="-122"/>
                <a:cs typeface="Times New Roman" pitchFamily="34" charset="-120"/>
              </a:rPr>
              <a:t>GIẢI THUẬT — LUỒNG TÌM KIẾM &amp; COSINE SIMILARITY</a:t>
            </a:r>
            <a:endParaRPr lang="en-US" sz="2600" dirty="0"/>
          </a:p>
        </p:txBody>
      </p:sp>
      <p:sp>
        <p:nvSpPr>
          <p:cNvPr id="4" name="Shape 1"/>
          <p:cNvSpPr/>
          <p:nvPr/>
        </p:nvSpPr>
        <p:spPr>
          <a:xfrm>
            <a:off x="1371600" y="932688"/>
            <a:ext cx="10545775" cy="0"/>
          </a:xfrm>
          <a:prstGeom prst="line">
            <a:avLst/>
          </a:prstGeom>
          <a:noFill/>
          <a:ln w="19050">
            <a:solidFill>
              <a:srgbClr val="4472C4"/>
            </a:solidFill>
            <a:prstDash val="solid"/>
          </a:ln>
        </p:spPr>
      </p:sp>
      <p:pic>
        <p:nvPicPr>
          <p:cNvPr id="5" name="Image 1" descr="logo_small.png">    </p:cNvPr>
          <p:cNvPicPr>
            <a:picLocks noChangeAspect="1"/>
          </p:cNvPicPr>
          <p:nvPr/>
        </p:nvPicPr>
        <p:blipFill>
          <a:blip r:embed="rId2"/>
          <a:stretch>
            <a:fillRect/>
          </a:stretch>
        </p:blipFill>
        <p:spPr>
          <a:xfrm>
            <a:off x="256032" y="6473952"/>
            <a:ext cx="292608" cy="292608"/>
          </a:xfrm>
          <a:prstGeom prst="rect">
            <a:avLst/>
          </a:prstGeom>
        </p:spPr>
      </p:pic>
      <p:sp>
        <p:nvSpPr>
          <p:cNvPr id="6" name="Text 2"/>
          <p:cNvSpPr/>
          <p:nvPr/>
        </p:nvSpPr>
        <p:spPr>
          <a:xfrm>
            <a:off x="594360" y="6437376"/>
            <a:ext cx="3200400" cy="219456"/>
          </a:xfrm>
          <a:prstGeom prst="rect">
            <a:avLst/>
          </a:prstGeom>
          <a:noFill/>
          <a:ln/>
        </p:spPr>
        <p:txBody>
          <a:bodyPr wrap="square" lIns="0" tIns="0" rIns="0" bIns="0" rtlCol="0" anchor="t"/>
          <a:lstStyle/>
          <a:p>
            <a:pPr indent="0" marL="0">
              <a:buNone/>
            </a:pPr>
            <a:r>
              <a:rPr lang="en-US" sz="1200" b="1" dirty="0">
                <a:solidFill>
                  <a:srgbClr val="4472C4"/>
                </a:solidFill>
                <a:latin typeface="Times New Roman" pitchFamily="34" charset="0"/>
                <a:ea typeface="Times New Roman" pitchFamily="34" charset="-122"/>
                <a:cs typeface="Times New Roman" pitchFamily="34" charset="-120"/>
              </a:rPr>
              <a:t>ĐẠI HỌC CẦN THƠ</a:t>
            </a:r>
            <a:endParaRPr lang="en-US" sz="1200" dirty="0"/>
          </a:p>
        </p:txBody>
      </p:sp>
      <p:sp>
        <p:nvSpPr>
          <p:cNvPr id="7" name="Text 3"/>
          <p:cNvSpPr/>
          <p:nvPr/>
        </p:nvSpPr>
        <p:spPr>
          <a:xfrm>
            <a:off x="594360" y="6638544"/>
            <a:ext cx="3200400" cy="182880"/>
          </a:xfrm>
          <a:prstGeom prst="rect">
            <a:avLst/>
          </a:prstGeom>
          <a:noFill/>
          <a:ln/>
        </p:spPr>
        <p:txBody>
          <a:bodyPr wrap="square" lIns="0" tIns="0" rIns="0" bIns="0" rtlCol="0" anchor="ctr"/>
          <a:lstStyle/>
          <a:p>
            <a:pPr indent="0" marL="0">
              <a:buNone/>
            </a:pPr>
            <a:r>
              <a:rPr lang="en-US" sz="700" dirty="0">
                <a:solidFill>
                  <a:srgbClr val="7F7F7F"/>
                </a:solidFill>
                <a:latin typeface="Arial" pitchFamily="34" charset="0"/>
                <a:ea typeface="Arial" pitchFamily="34" charset="-122"/>
                <a:cs typeface="Arial" pitchFamily="34" charset="-120"/>
              </a:rPr>
              <a:t>Cộng đồng - Toàn diện - Ưu việt</a:t>
            </a:r>
            <a:endParaRPr lang="en-US" sz="700" dirty="0"/>
          </a:p>
        </p:txBody>
      </p:sp>
      <p:sp>
        <p:nvSpPr>
          <p:cNvPr id="8" name="Shape 4"/>
          <p:cNvSpPr/>
          <p:nvPr/>
        </p:nvSpPr>
        <p:spPr>
          <a:xfrm>
            <a:off x="2011680" y="6638544"/>
            <a:ext cx="8351215" cy="0"/>
          </a:xfrm>
          <a:prstGeom prst="line">
            <a:avLst/>
          </a:prstGeom>
          <a:noFill/>
          <a:ln w="15875">
            <a:solidFill>
              <a:srgbClr val="01B0F1"/>
            </a:solidFill>
            <a:prstDash val="solid"/>
          </a:ln>
        </p:spPr>
      </p:sp>
      <p:sp>
        <p:nvSpPr>
          <p:cNvPr id="9" name="Text 5"/>
          <p:cNvSpPr/>
          <p:nvPr/>
        </p:nvSpPr>
        <p:spPr>
          <a:xfrm>
            <a:off x="10362895" y="6473952"/>
            <a:ext cx="1554480" cy="256032"/>
          </a:xfrm>
          <a:prstGeom prst="rect">
            <a:avLst/>
          </a:prstGeom>
          <a:noFill/>
          <a:ln/>
        </p:spPr>
        <p:txBody>
          <a:bodyPr wrap="square" lIns="0" tIns="0" rIns="0" bIns="0" rtlCol="0" anchor="t"/>
          <a:lstStyle/>
          <a:p>
            <a:pPr algn="r" indent="0" marL="0">
              <a:buNone/>
            </a:pPr>
            <a:r>
              <a:rPr lang="en-US" sz="1100" b="1" dirty="0">
                <a:solidFill>
                  <a:srgbClr val="01B0F1"/>
                </a:solidFill>
                <a:latin typeface="Arial" pitchFamily="34" charset="0"/>
                <a:ea typeface="Arial" pitchFamily="34" charset="-122"/>
                <a:cs typeface="Arial" pitchFamily="34" charset="-120"/>
              </a:rPr>
              <a:t>www.ctu.edu.vn</a:t>
            </a:r>
            <a:endParaRPr lang="en-US" sz="1100" dirty="0"/>
          </a:p>
        </p:txBody>
      </p:sp>
      <p:sp>
        <p:nvSpPr>
          <p:cNvPr id="10" name="Text 6"/>
          <p:cNvSpPr/>
          <p:nvPr/>
        </p:nvSpPr>
        <p:spPr>
          <a:xfrm>
            <a:off x="11871655" y="6473952"/>
            <a:ext cx="274320" cy="256032"/>
          </a:xfrm>
          <a:prstGeom prst="rect">
            <a:avLst/>
          </a:prstGeom>
          <a:solidFill>
            <a:srgbClr val="01B0F1"/>
          </a:solid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8</a:t>
            </a:r>
            <a:endParaRPr lang="en-US" sz="1000" dirty="0"/>
          </a:p>
        </p:txBody>
      </p:sp>
      <p:sp>
        <p:nvSpPr>
          <p:cNvPr id="11" name="Text 7"/>
          <p:cNvSpPr/>
          <p:nvPr/>
        </p:nvSpPr>
        <p:spPr>
          <a:xfrm>
            <a:off x="822960" y="1188720"/>
            <a:ext cx="10515600" cy="1920240"/>
          </a:xfrm>
          <a:prstGeom prst="rect">
            <a:avLst/>
          </a:prstGeom>
          <a:noFill/>
          <a:ln/>
        </p:spPr>
        <p:txBody>
          <a:bodyPr wrap="square" rtlCol="0" anchor="t"/>
          <a:lstStyle/>
          <a:p>
            <a:pPr marL="228600" indent="-228600">
              <a:spcAft>
                <a:spcPts val="1000"/>
              </a:spcAft>
              <a:buSzPct val="100000"/>
              <a:buChar char="▪"/>
            </a:pPr>
            <a:r>
              <a:rPr lang="en-US" sz="1750" dirty="0">
                <a:solidFill>
                  <a:srgbClr val="000000"/>
                </a:solidFill>
                <a:latin typeface="Times New Roman" pitchFamily="34" charset="0"/>
                <a:ea typeface="Times New Roman" pitchFamily="34" charset="-122"/>
                <a:cs typeface="Times New Roman" pitchFamily="34" charset="-120"/>
              </a:rPr>
              <a:t>Người dùng nhập từ khóa → tiền xử lý giống hệt bước index.</a:t>
            </a:r>
            <a:endParaRPr lang="en-US" sz="1750" dirty="0"/>
          </a:p>
          <a:p>
            <a:pPr marL="228600" indent="-228600">
              <a:spcAft>
                <a:spcPts val="1000"/>
              </a:spcAft>
              <a:buSzPct val="100000"/>
              <a:buChar char="▪"/>
            </a:pPr>
            <a:r>
              <a:rPr lang="en-US" sz="1750" dirty="0">
                <a:solidFill>
                  <a:srgbClr val="000000"/>
                </a:solidFill>
                <a:latin typeface="Times New Roman" pitchFamily="34" charset="0"/>
                <a:ea typeface="Times New Roman" pitchFamily="34" charset="-122"/>
                <a:cs typeface="Times New Roman" pitchFamily="34" charset="-120"/>
              </a:rPr>
              <a:t>Vector hoá câu truy vấn bằng đúng vocabulary (TF-IDF) hoặc đúng model (SBERT) đã dùng lúc index.</a:t>
            </a:r>
            <a:endParaRPr lang="en-US" sz="1750" dirty="0"/>
          </a:p>
          <a:p>
            <a:pPr marL="228600" indent="-228600">
              <a:spcAft>
                <a:spcPts val="1000"/>
              </a:spcAft>
              <a:buSzPct val="100000"/>
              <a:buChar char="▪"/>
            </a:pPr>
            <a:r>
              <a:rPr lang="en-US" sz="1750" dirty="0">
                <a:solidFill>
                  <a:srgbClr val="000000"/>
                </a:solidFill>
                <a:latin typeface="Times New Roman" pitchFamily="34" charset="0"/>
                <a:ea typeface="Times New Roman" pitchFamily="34" charset="-122"/>
                <a:cs typeface="Times New Roman" pitchFamily="34" charset="-120"/>
              </a:rPr>
              <a:t>Tính độ tương đồng Cosine giữa vector truy vấn và toàn bộ vector tiêu đề đã lưu:</a:t>
            </a:r>
            <a:endParaRPr lang="en-US" sz="1750" dirty="0"/>
          </a:p>
        </p:txBody>
      </p:sp>
      <p:sp>
        <p:nvSpPr>
          <p:cNvPr id="12" name="Text 8"/>
          <p:cNvSpPr/>
          <p:nvPr/>
        </p:nvSpPr>
        <p:spPr>
          <a:xfrm>
            <a:off x="2011680" y="2971800"/>
            <a:ext cx="8138160" cy="640080"/>
          </a:xfrm>
          <a:prstGeom prst="rect">
            <a:avLst/>
          </a:prstGeom>
          <a:solidFill>
            <a:srgbClr val="1F3864"/>
          </a:solidFill>
          <a:ln/>
        </p:spPr>
        <p:txBody>
          <a:bodyPr wrap="square" lIns="101600" tIns="101600" rIns="101600" bIns="101600" rtlCol="0" anchor="ctr"/>
          <a:lstStyle/>
          <a:p>
            <a:pPr algn="ctr" indent="0" marL="0">
              <a:buNone/>
            </a:pPr>
            <a:r>
              <a:rPr lang="en-US" sz="2200" b="1" dirty="0">
                <a:solidFill>
                  <a:srgbClr val="FFFFFF"/>
                </a:solidFill>
                <a:latin typeface="Consolas" pitchFamily="34" charset="0"/>
                <a:ea typeface="Consolas" pitchFamily="34" charset="-122"/>
                <a:cs typeface="Consolas" pitchFamily="34" charset="-120"/>
              </a:rPr>
              <a:t>cosine(A, B) = (A · B) / (‖A‖ × ‖B‖)</a:t>
            </a:r>
            <a:endParaRPr lang="en-US" sz="2200" dirty="0"/>
          </a:p>
        </p:txBody>
      </p:sp>
      <p:sp>
        <p:nvSpPr>
          <p:cNvPr id="13" name="Text 9"/>
          <p:cNvSpPr/>
          <p:nvPr/>
        </p:nvSpPr>
        <p:spPr>
          <a:xfrm>
            <a:off x="822960" y="3840480"/>
            <a:ext cx="10515600" cy="2377440"/>
          </a:xfrm>
          <a:prstGeom prst="rect">
            <a:avLst/>
          </a:prstGeom>
          <a:noFill/>
          <a:ln/>
        </p:spPr>
        <p:txBody>
          <a:bodyPr wrap="square" rtlCol="0" anchor="t"/>
          <a:lstStyle/>
          <a:p>
            <a:pPr marL="228600" indent="-228600">
              <a:spcAft>
                <a:spcPts val="1000"/>
              </a:spcAft>
              <a:buSzPct val="100000"/>
              <a:buChar char="▪"/>
            </a:pPr>
            <a:r>
              <a:rPr lang="en-US" sz="1700" dirty="0">
                <a:solidFill>
                  <a:srgbClr val="000000"/>
                </a:solidFill>
                <a:latin typeface="Times New Roman" pitchFamily="34" charset="0"/>
                <a:ea typeface="Times New Roman" pitchFamily="34" charset="-122"/>
                <a:cs typeface="Times New Roman" pitchFamily="34" charset="-120"/>
              </a:rPr>
              <a:t>Sắp xếp kết quả theo độ tương đồng giảm dần, trả về top-K câu hỏi liên quan nhất.</a:t>
            </a:r>
            <a:endParaRPr lang="en-US" sz="1700" dirty="0"/>
          </a:p>
          <a:p>
            <a:pPr marL="228600" indent="-228600">
              <a:spcAft>
                <a:spcPts val="1000"/>
              </a:spcAft>
              <a:buSzPct val="100000"/>
              <a:buChar char="▪"/>
            </a:pPr>
            <a:r>
              <a:rPr lang="en-US" sz="1700" dirty="0">
                <a:solidFill>
                  <a:srgbClr val="000000"/>
                </a:solidFill>
                <a:latin typeface="Times New Roman" pitchFamily="34" charset="0"/>
                <a:ea typeface="Times New Roman" pitchFamily="34" charset="-122"/>
                <a:cs typeface="Times New Roman" pitchFamily="34" charset="-120"/>
              </a:rPr>
              <a:t>Với TF-IDF: dot-product qua giao 2 dict thưa, tiết kiệm bộ nhớ và tăng tốc.</a:t>
            </a:r>
            <a:endParaRPr lang="en-US" sz="1700" dirty="0"/>
          </a:p>
          <a:p>
            <a:pPr marL="228600" indent="-228600">
              <a:spcAft>
                <a:spcPts val="1000"/>
              </a:spcAft>
              <a:buSzPct val="100000"/>
              <a:buChar char="▪"/>
            </a:pPr>
            <a:r>
              <a:rPr lang="en-US" sz="1700" dirty="0">
                <a:solidFill>
                  <a:srgbClr val="000000"/>
                </a:solidFill>
                <a:latin typeface="Times New Roman" pitchFamily="34" charset="0"/>
                <a:ea typeface="Times New Roman" pitchFamily="34" charset="-122"/>
                <a:cs typeface="Times New Roman" pitchFamily="34" charset="-120"/>
              </a:rPr>
              <a:t>Với SBERT: tích ma trận numpy đã L2-normalize sẵn = tính toàn bộ cosine similarity trong 1 phép nhân ma trận.</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logo_big.png">    </p:cNvPr>
          <p:cNvPicPr>
            <a:picLocks noChangeAspect="1"/>
          </p:cNvPicPr>
          <p:nvPr/>
        </p:nvPicPr>
        <p:blipFill>
          <a:blip r:embed="rId1"/>
          <a:stretch>
            <a:fillRect/>
          </a:stretch>
        </p:blipFill>
        <p:spPr>
          <a:xfrm>
            <a:off x="164592" y="128016"/>
            <a:ext cx="960120" cy="960120"/>
          </a:xfrm>
          <a:prstGeom prst="rect">
            <a:avLst/>
          </a:prstGeom>
        </p:spPr>
      </p:pic>
      <p:sp>
        <p:nvSpPr>
          <p:cNvPr id="3" name="Text 0"/>
          <p:cNvSpPr/>
          <p:nvPr/>
        </p:nvSpPr>
        <p:spPr>
          <a:xfrm>
            <a:off x="1371600" y="109728"/>
            <a:ext cx="10545775" cy="777240"/>
          </a:xfrm>
          <a:prstGeom prst="rect">
            <a:avLst/>
          </a:prstGeom>
          <a:noFill/>
          <a:ln/>
        </p:spPr>
        <p:txBody>
          <a:bodyPr wrap="square" lIns="0" tIns="0" rIns="0" bIns="0" rtlCol="0" anchor="ctr"/>
          <a:lstStyle/>
          <a:p>
            <a:pPr algn="ctr" indent="0" marL="0">
              <a:buNone/>
            </a:pPr>
            <a:r>
              <a:rPr lang="en-US" sz="2600" b="1" dirty="0">
                <a:solidFill>
                  <a:srgbClr val="4472C4"/>
                </a:solidFill>
                <a:latin typeface="Times New Roman" pitchFamily="34" charset="0"/>
                <a:ea typeface="Times New Roman" pitchFamily="34" charset="-122"/>
                <a:cs typeface="Times New Roman" pitchFamily="34" charset="-120"/>
              </a:rPr>
              <a:t>CÀI ĐẶT MINH HỌA</a:t>
            </a:r>
            <a:endParaRPr lang="en-US" sz="2600" dirty="0"/>
          </a:p>
        </p:txBody>
      </p:sp>
      <p:sp>
        <p:nvSpPr>
          <p:cNvPr id="4" name="Shape 1"/>
          <p:cNvSpPr/>
          <p:nvPr/>
        </p:nvSpPr>
        <p:spPr>
          <a:xfrm>
            <a:off x="1371600" y="932688"/>
            <a:ext cx="10545775" cy="0"/>
          </a:xfrm>
          <a:prstGeom prst="line">
            <a:avLst/>
          </a:prstGeom>
          <a:noFill/>
          <a:ln w="19050">
            <a:solidFill>
              <a:srgbClr val="4472C4"/>
            </a:solidFill>
            <a:prstDash val="solid"/>
          </a:ln>
        </p:spPr>
      </p:sp>
      <p:pic>
        <p:nvPicPr>
          <p:cNvPr id="5" name="Image 1" descr="logo_small.png">    </p:cNvPr>
          <p:cNvPicPr>
            <a:picLocks noChangeAspect="1"/>
          </p:cNvPicPr>
          <p:nvPr/>
        </p:nvPicPr>
        <p:blipFill>
          <a:blip r:embed="rId2"/>
          <a:stretch>
            <a:fillRect/>
          </a:stretch>
        </p:blipFill>
        <p:spPr>
          <a:xfrm>
            <a:off x="256032" y="6473952"/>
            <a:ext cx="292608" cy="292608"/>
          </a:xfrm>
          <a:prstGeom prst="rect">
            <a:avLst/>
          </a:prstGeom>
        </p:spPr>
      </p:pic>
      <p:sp>
        <p:nvSpPr>
          <p:cNvPr id="6" name="Text 2"/>
          <p:cNvSpPr/>
          <p:nvPr/>
        </p:nvSpPr>
        <p:spPr>
          <a:xfrm>
            <a:off x="594360" y="6437376"/>
            <a:ext cx="3200400" cy="219456"/>
          </a:xfrm>
          <a:prstGeom prst="rect">
            <a:avLst/>
          </a:prstGeom>
          <a:noFill/>
          <a:ln/>
        </p:spPr>
        <p:txBody>
          <a:bodyPr wrap="square" lIns="0" tIns="0" rIns="0" bIns="0" rtlCol="0" anchor="t"/>
          <a:lstStyle/>
          <a:p>
            <a:pPr indent="0" marL="0">
              <a:buNone/>
            </a:pPr>
            <a:r>
              <a:rPr lang="en-US" sz="1200" b="1" dirty="0">
                <a:solidFill>
                  <a:srgbClr val="4472C4"/>
                </a:solidFill>
                <a:latin typeface="Times New Roman" pitchFamily="34" charset="0"/>
                <a:ea typeface="Times New Roman" pitchFamily="34" charset="-122"/>
                <a:cs typeface="Times New Roman" pitchFamily="34" charset="-120"/>
              </a:rPr>
              <a:t>ĐẠI HỌC CẦN THƠ</a:t>
            </a:r>
            <a:endParaRPr lang="en-US" sz="1200" dirty="0"/>
          </a:p>
        </p:txBody>
      </p:sp>
      <p:sp>
        <p:nvSpPr>
          <p:cNvPr id="7" name="Text 3"/>
          <p:cNvSpPr/>
          <p:nvPr/>
        </p:nvSpPr>
        <p:spPr>
          <a:xfrm>
            <a:off x="594360" y="6638544"/>
            <a:ext cx="3200400" cy="182880"/>
          </a:xfrm>
          <a:prstGeom prst="rect">
            <a:avLst/>
          </a:prstGeom>
          <a:noFill/>
          <a:ln/>
        </p:spPr>
        <p:txBody>
          <a:bodyPr wrap="square" lIns="0" tIns="0" rIns="0" bIns="0" rtlCol="0" anchor="ctr"/>
          <a:lstStyle/>
          <a:p>
            <a:pPr indent="0" marL="0">
              <a:buNone/>
            </a:pPr>
            <a:r>
              <a:rPr lang="en-US" sz="700" dirty="0">
                <a:solidFill>
                  <a:srgbClr val="7F7F7F"/>
                </a:solidFill>
                <a:latin typeface="Arial" pitchFamily="34" charset="0"/>
                <a:ea typeface="Arial" pitchFamily="34" charset="-122"/>
                <a:cs typeface="Arial" pitchFamily="34" charset="-120"/>
              </a:rPr>
              <a:t>Cộng đồng - Toàn diện - Ưu việt</a:t>
            </a:r>
            <a:endParaRPr lang="en-US" sz="700" dirty="0"/>
          </a:p>
        </p:txBody>
      </p:sp>
      <p:sp>
        <p:nvSpPr>
          <p:cNvPr id="8" name="Shape 4"/>
          <p:cNvSpPr/>
          <p:nvPr/>
        </p:nvSpPr>
        <p:spPr>
          <a:xfrm>
            <a:off x="2011680" y="6638544"/>
            <a:ext cx="8351215" cy="0"/>
          </a:xfrm>
          <a:prstGeom prst="line">
            <a:avLst/>
          </a:prstGeom>
          <a:noFill/>
          <a:ln w="15875">
            <a:solidFill>
              <a:srgbClr val="01B0F1"/>
            </a:solidFill>
            <a:prstDash val="solid"/>
          </a:ln>
        </p:spPr>
      </p:sp>
      <p:sp>
        <p:nvSpPr>
          <p:cNvPr id="9" name="Text 5"/>
          <p:cNvSpPr/>
          <p:nvPr/>
        </p:nvSpPr>
        <p:spPr>
          <a:xfrm>
            <a:off x="10362895" y="6473952"/>
            <a:ext cx="1554480" cy="256032"/>
          </a:xfrm>
          <a:prstGeom prst="rect">
            <a:avLst/>
          </a:prstGeom>
          <a:noFill/>
          <a:ln/>
        </p:spPr>
        <p:txBody>
          <a:bodyPr wrap="square" lIns="0" tIns="0" rIns="0" bIns="0" rtlCol="0" anchor="t"/>
          <a:lstStyle/>
          <a:p>
            <a:pPr algn="r" indent="0" marL="0">
              <a:buNone/>
            </a:pPr>
            <a:r>
              <a:rPr lang="en-US" sz="1100" b="1" dirty="0">
                <a:solidFill>
                  <a:srgbClr val="01B0F1"/>
                </a:solidFill>
                <a:latin typeface="Arial" pitchFamily="34" charset="0"/>
                <a:ea typeface="Arial" pitchFamily="34" charset="-122"/>
                <a:cs typeface="Arial" pitchFamily="34" charset="-120"/>
              </a:rPr>
              <a:t>www.ctu.edu.vn</a:t>
            </a:r>
            <a:endParaRPr lang="en-US" sz="1100" dirty="0"/>
          </a:p>
        </p:txBody>
      </p:sp>
      <p:sp>
        <p:nvSpPr>
          <p:cNvPr id="10" name="Text 6"/>
          <p:cNvSpPr/>
          <p:nvPr/>
        </p:nvSpPr>
        <p:spPr>
          <a:xfrm>
            <a:off x="11871655" y="6473952"/>
            <a:ext cx="274320" cy="256032"/>
          </a:xfrm>
          <a:prstGeom prst="rect">
            <a:avLst/>
          </a:prstGeom>
          <a:solidFill>
            <a:srgbClr val="01B0F1"/>
          </a:solid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9</a:t>
            </a:r>
            <a:endParaRPr lang="en-US" sz="1000" dirty="0"/>
          </a:p>
        </p:txBody>
      </p:sp>
      <p:sp>
        <p:nvSpPr>
          <p:cNvPr id="11" name="Text 7"/>
          <p:cNvSpPr/>
          <p:nvPr/>
        </p:nvSpPr>
        <p:spPr>
          <a:xfrm>
            <a:off x="822960" y="1143000"/>
            <a:ext cx="10515600" cy="411480"/>
          </a:xfrm>
          <a:prstGeom prst="rect">
            <a:avLst/>
          </a:prstGeom>
          <a:noFill/>
          <a:ln/>
        </p:spPr>
        <p:txBody>
          <a:bodyPr wrap="square" rtlCol="0" anchor="ctr"/>
          <a:lstStyle/>
          <a:p>
            <a:pPr indent="0" marL="0">
              <a:buNone/>
            </a:pPr>
            <a:r>
              <a:rPr lang="en-US" sz="1650" b="1" dirty="0">
                <a:solidFill>
                  <a:srgbClr val="1F3864"/>
                </a:solidFill>
                <a:latin typeface="Times New Roman" pitchFamily="34" charset="0"/>
                <a:ea typeface="Times New Roman" pitchFamily="34" charset="-122"/>
                <a:cs typeface="Times New Roman" pitchFamily="34" charset="-120"/>
              </a:rPr>
              <a:t>Hàm tính Cosine Similarity cho vector TF-IDF thưa (sparse):</a:t>
            </a:r>
            <a:endParaRPr lang="en-US" sz="1650" dirty="0"/>
          </a:p>
        </p:txBody>
      </p:sp>
      <p:sp>
        <p:nvSpPr>
          <p:cNvPr id="12" name="Text 8"/>
          <p:cNvSpPr/>
          <p:nvPr/>
        </p:nvSpPr>
        <p:spPr>
          <a:xfrm>
            <a:off x="822960" y="1645920"/>
            <a:ext cx="10515600" cy="1965960"/>
          </a:xfrm>
          <a:prstGeom prst="rect">
            <a:avLst/>
          </a:prstGeom>
          <a:solidFill>
            <a:srgbClr val="F2F2F2"/>
          </a:solidFill>
          <a:ln/>
        </p:spPr>
        <p:txBody>
          <a:bodyPr wrap="square" lIns="127000" tIns="127000" rIns="127000" bIns="127000" rtlCol="0" anchor="t"/>
          <a:lstStyle/>
          <a:p>
            <a:pPr indent="0" marL="0">
              <a:lnSpc>
                <a:spcPct val="115000"/>
              </a:lnSpc>
              <a:buNone/>
            </a:pPr>
            <a:r>
              <a:rPr lang="en-US" sz="1350" dirty="0">
                <a:solidFill>
                  <a:srgbClr val="1B1B1B"/>
                </a:solidFill>
                <a:latin typeface="Consolas" pitchFamily="34" charset="0"/>
                <a:ea typeface="Consolas" pitchFamily="34" charset="-122"/>
                <a:cs typeface="Consolas" pitchFamily="34" charset="-120"/>
              </a:rPr>
              <a:t>def cosine(vec_a, norm_a, vec_b, norm_b):</a:t>
            </a:r>
            <a:endParaRPr lang="en-US" sz="1350" dirty="0"/>
          </a:p>
          <a:p>
            <a:pPr indent="0" marL="0">
              <a:lnSpc>
                <a:spcPct val="115000"/>
              </a:lnSpc>
              <a:buNone/>
            </a:pPr>
            <a:r>
              <a:rPr lang="en-US" sz="1350" dirty="0">
                <a:solidFill>
                  <a:srgbClr val="1B1B1B"/>
                </a:solidFill>
                <a:latin typeface="Consolas" pitchFamily="34" charset="0"/>
                <a:ea typeface="Consolas" pitchFamily="34" charset="-122"/>
                <a:cs typeface="Consolas" pitchFamily="34" charset="-120"/>
              </a:rPr>
              <a:t>    if norm_a == 0 or norm_b == 0:</a:t>
            </a:r>
            <a:endParaRPr lang="en-US" sz="1350" dirty="0"/>
          </a:p>
          <a:p>
            <a:pPr indent="0" marL="0">
              <a:lnSpc>
                <a:spcPct val="115000"/>
              </a:lnSpc>
              <a:buNone/>
            </a:pPr>
            <a:r>
              <a:rPr lang="en-US" sz="1350" dirty="0">
                <a:solidFill>
                  <a:srgbClr val="1B1B1B"/>
                </a:solidFill>
                <a:latin typeface="Consolas" pitchFamily="34" charset="0"/>
                <a:ea typeface="Consolas" pitchFamily="34" charset="-122"/>
                <a:cs typeface="Consolas" pitchFamily="34" charset="-120"/>
              </a:rPr>
              <a:t>        return 0.0</a:t>
            </a:r>
            <a:endParaRPr lang="en-US" sz="1350" dirty="0"/>
          </a:p>
          <a:p>
            <a:pPr indent="0" marL="0">
              <a:lnSpc>
                <a:spcPct val="115000"/>
              </a:lnSpc>
              <a:buNone/>
            </a:pPr>
            <a:r>
              <a:rPr lang="en-US" sz="1350" dirty="0">
                <a:solidFill>
                  <a:srgbClr val="1B1B1B"/>
                </a:solidFill>
                <a:latin typeface="Consolas" pitchFamily="34" charset="0"/>
                <a:ea typeface="Consolas" pitchFamily="34" charset="-122"/>
                <a:cs typeface="Consolas" pitchFamily="34" charset="-120"/>
              </a:rPr>
              <a:t>    # Dot product qua giao 2 dict thưa (sparse)</a:t>
            </a:r>
            <a:endParaRPr lang="en-US" sz="1350" dirty="0"/>
          </a:p>
          <a:p>
            <a:pPr indent="0" marL="0">
              <a:lnSpc>
                <a:spcPct val="115000"/>
              </a:lnSpc>
              <a:buNone/>
            </a:pPr>
            <a:r>
              <a:rPr lang="en-US" sz="1350" dirty="0">
                <a:solidFill>
                  <a:srgbClr val="1B1B1B"/>
                </a:solidFill>
                <a:latin typeface="Consolas" pitchFamily="34" charset="0"/>
                <a:ea typeface="Consolas" pitchFamily="34" charset="-122"/>
                <a:cs typeface="Consolas" pitchFamily="34" charset="-120"/>
              </a:rPr>
              <a:t>    small, big = (vec_a, vec_b) if len(vec_a) &lt; len(vec_b) else (vec_b, vec_a)</a:t>
            </a:r>
            <a:endParaRPr lang="en-US" sz="1350" dirty="0"/>
          </a:p>
          <a:p>
            <a:pPr indent="0" marL="0">
              <a:lnSpc>
                <a:spcPct val="115000"/>
              </a:lnSpc>
              <a:buNone/>
            </a:pPr>
            <a:r>
              <a:rPr lang="en-US" sz="1350" dirty="0">
                <a:solidFill>
                  <a:srgbClr val="1B1B1B"/>
                </a:solidFill>
                <a:latin typeface="Consolas" pitchFamily="34" charset="0"/>
                <a:ea typeface="Consolas" pitchFamily="34" charset="-122"/>
                <a:cs typeface="Consolas" pitchFamily="34" charset="-120"/>
              </a:rPr>
              <a:t>    dot = sum(w * big[idx] for idx, w in small.items() if idx in big)</a:t>
            </a:r>
            <a:endParaRPr lang="en-US" sz="1350" dirty="0"/>
          </a:p>
          <a:p>
            <a:pPr indent="0" marL="0">
              <a:lnSpc>
                <a:spcPct val="115000"/>
              </a:lnSpc>
              <a:buNone/>
            </a:pPr>
            <a:r>
              <a:rPr lang="en-US" sz="1350" dirty="0">
                <a:solidFill>
                  <a:srgbClr val="1B1B1B"/>
                </a:solidFill>
                <a:latin typeface="Consolas" pitchFamily="34" charset="0"/>
                <a:ea typeface="Consolas" pitchFamily="34" charset="-122"/>
                <a:cs typeface="Consolas" pitchFamily="34" charset="-120"/>
              </a:rPr>
              <a:t>    return dot / (norm_a * norm_b)</a:t>
            </a:r>
            <a:endParaRPr lang="en-US" sz="1350" dirty="0"/>
          </a:p>
        </p:txBody>
      </p:sp>
      <p:sp>
        <p:nvSpPr>
          <p:cNvPr id="13" name="Text 9"/>
          <p:cNvSpPr/>
          <p:nvPr/>
        </p:nvSpPr>
        <p:spPr>
          <a:xfrm>
            <a:off x="822960" y="3794760"/>
            <a:ext cx="10515600" cy="411480"/>
          </a:xfrm>
          <a:prstGeom prst="rect">
            <a:avLst/>
          </a:prstGeom>
          <a:noFill/>
          <a:ln/>
        </p:spPr>
        <p:txBody>
          <a:bodyPr wrap="square" rtlCol="0" anchor="ctr"/>
          <a:lstStyle/>
          <a:p>
            <a:pPr indent="0" marL="0">
              <a:buNone/>
            </a:pPr>
            <a:r>
              <a:rPr lang="en-US" sz="1650" b="1" dirty="0">
                <a:solidFill>
                  <a:srgbClr val="1F3864"/>
                </a:solidFill>
                <a:latin typeface="Times New Roman" pitchFamily="34" charset="0"/>
                <a:ea typeface="Times New Roman" pitchFamily="34" charset="-122"/>
                <a:cs typeface="Times New Roman" pitchFamily="34" charset="-120"/>
              </a:rPr>
              <a:t>Tìm kiếm bằng SBERT — tích ma trận đã cache sẵn trong RAM:</a:t>
            </a:r>
            <a:endParaRPr lang="en-US" sz="1650" dirty="0"/>
          </a:p>
        </p:txBody>
      </p:sp>
      <p:sp>
        <p:nvSpPr>
          <p:cNvPr id="14" name="Text 10"/>
          <p:cNvSpPr/>
          <p:nvPr/>
        </p:nvSpPr>
        <p:spPr>
          <a:xfrm>
            <a:off x="822960" y="4251960"/>
            <a:ext cx="10515600" cy="960120"/>
          </a:xfrm>
          <a:prstGeom prst="rect">
            <a:avLst/>
          </a:prstGeom>
          <a:solidFill>
            <a:srgbClr val="F2F2F2"/>
          </a:solidFill>
          <a:ln/>
        </p:spPr>
        <p:txBody>
          <a:bodyPr wrap="square" lIns="127000" tIns="127000" rIns="127000" bIns="127000" rtlCol="0" anchor="t"/>
          <a:lstStyle/>
          <a:p>
            <a:pPr indent="0" marL="0">
              <a:lnSpc>
                <a:spcPct val="115000"/>
              </a:lnSpc>
              <a:buNone/>
            </a:pPr>
            <a:r>
              <a:rPr lang="en-US" sz="1350" dirty="0">
                <a:solidFill>
                  <a:srgbClr val="1B1B1B"/>
                </a:solidFill>
                <a:latin typeface="Consolas" pitchFamily="34" charset="0"/>
                <a:ea typeface="Consolas" pitchFamily="34" charset="-122"/>
                <a:cs typeface="Consolas" pitchFamily="34" charset="-120"/>
              </a:rPr>
              <a:t>scores = _cache_matrix @ q_emb        # (n_docs,) — 2 phía đã L2-normalize</a:t>
            </a:r>
            <a:endParaRPr lang="en-US" sz="1350" dirty="0"/>
          </a:p>
          <a:p>
            <a:pPr indent="0" marL="0">
              <a:lnSpc>
                <a:spcPct val="115000"/>
              </a:lnSpc>
              <a:buNone/>
            </a:pPr>
            <a:r>
              <a:rPr lang="en-US" sz="1350" dirty="0">
                <a:solidFill>
                  <a:srgbClr val="1B1B1B"/>
                </a:solidFill>
                <a:latin typeface="Consolas" pitchFamily="34" charset="0"/>
                <a:ea typeface="Consolas" pitchFamily="34" charset="-122"/>
                <a:cs typeface="Consolas" pitchFamily="34" charset="-120"/>
              </a:rPr>
              <a:t>                                        # -&gt; tích vô hướng = cosine similarity</a:t>
            </a:r>
            <a:endParaRPr lang="en-US" sz="1350" dirty="0"/>
          </a:p>
          <a:p>
            <a:pPr indent="0" marL="0">
              <a:lnSpc>
                <a:spcPct val="115000"/>
              </a:lnSpc>
              <a:buNone/>
            </a:pPr>
            <a:r>
              <a:rPr lang="en-US" sz="1350" dirty="0">
                <a:solidFill>
                  <a:srgbClr val="1B1B1B"/>
                </a:solidFill>
                <a:latin typeface="Consolas" pitchFamily="34" charset="0"/>
                <a:ea typeface="Consolas" pitchFamily="34" charset="-122"/>
                <a:cs typeface="Consolas" pitchFamily="34" charset="-120"/>
              </a:rPr>
              <a:t>top_idx = np.argsort(-scores)[:top_k]</a:t>
            </a:r>
            <a:endParaRPr lang="en-US" sz="1350" dirty="0"/>
          </a:p>
        </p:txBody>
      </p:sp>
      <p:sp>
        <p:nvSpPr>
          <p:cNvPr id="15" name="Text 11"/>
          <p:cNvSpPr/>
          <p:nvPr/>
        </p:nvSpPr>
        <p:spPr>
          <a:xfrm>
            <a:off x="822960" y="5440680"/>
            <a:ext cx="10515600" cy="365760"/>
          </a:xfrm>
          <a:prstGeom prst="rect">
            <a:avLst/>
          </a:prstGeom>
          <a:noFill/>
          <a:ln/>
        </p:spPr>
        <p:txBody>
          <a:bodyPr wrap="square" rtlCol="0" anchor="ctr"/>
          <a:lstStyle/>
          <a:p>
            <a:pPr indent="0" marL="0">
              <a:buNone/>
            </a:pPr>
            <a:r>
              <a:rPr lang="en-US" sz="1300" i="1" dirty="0">
                <a:solidFill>
                  <a:srgbClr val="7F7F7F"/>
                </a:solidFill>
                <a:latin typeface="Times New Roman" pitchFamily="34" charset="0"/>
                <a:ea typeface="Times New Roman" pitchFamily="34" charset="-122"/>
                <a:cs typeface="Times New Roman" pitchFamily="34" charset="-120"/>
              </a:rPr>
              <a:t>Toàn bộ code cài đặt đầy đủ tại backend/app (search.py, benchmark_search.py).</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logo_big.png">    </p:cNvPr>
          <p:cNvPicPr>
            <a:picLocks noChangeAspect="1"/>
          </p:cNvPicPr>
          <p:nvPr/>
        </p:nvPicPr>
        <p:blipFill>
          <a:blip r:embed="rId1"/>
          <a:stretch>
            <a:fillRect/>
          </a:stretch>
        </p:blipFill>
        <p:spPr>
          <a:xfrm>
            <a:off x="164592" y="128016"/>
            <a:ext cx="960120" cy="960120"/>
          </a:xfrm>
          <a:prstGeom prst="rect">
            <a:avLst/>
          </a:prstGeom>
        </p:spPr>
      </p:pic>
      <p:sp>
        <p:nvSpPr>
          <p:cNvPr id="3" name="Text 0"/>
          <p:cNvSpPr/>
          <p:nvPr/>
        </p:nvSpPr>
        <p:spPr>
          <a:xfrm>
            <a:off x="1371600" y="109728"/>
            <a:ext cx="10545775" cy="777240"/>
          </a:xfrm>
          <a:prstGeom prst="rect">
            <a:avLst/>
          </a:prstGeom>
          <a:noFill/>
          <a:ln/>
        </p:spPr>
        <p:txBody>
          <a:bodyPr wrap="square" lIns="0" tIns="0" rIns="0" bIns="0" rtlCol="0" anchor="ctr"/>
          <a:lstStyle/>
          <a:p>
            <a:pPr algn="ctr" indent="0" marL="0">
              <a:buNone/>
            </a:pPr>
            <a:r>
              <a:rPr lang="en-US" sz="2600" b="1" dirty="0">
                <a:solidFill>
                  <a:srgbClr val="4472C4"/>
                </a:solidFill>
                <a:latin typeface="Times New Roman" pitchFamily="34" charset="0"/>
                <a:ea typeface="Times New Roman" pitchFamily="34" charset="-122"/>
                <a:cs typeface="Times New Roman" pitchFamily="34" charset="-120"/>
              </a:rPr>
              <a:t>CÔNG NGHỆ SỬ DỤNG</a:t>
            </a:r>
            <a:endParaRPr lang="en-US" sz="2600" dirty="0"/>
          </a:p>
        </p:txBody>
      </p:sp>
      <p:sp>
        <p:nvSpPr>
          <p:cNvPr id="4" name="Shape 1"/>
          <p:cNvSpPr/>
          <p:nvPr/>
        </p:nvSpPr>
        <p:spPr>
          <a:xfrm>
            <a:off x="1371600" y="932688"/>
            <a:ext cx="10545775" cy="0"/>
          </a:xfrm>
          <a:prstGeom prst="line">
            <a:avLst/>
          </a:prstGeom>
          <a:noFill/>
          <a:ln w="19050">
            <a:solidFill>
              <a:srgbClr val="4472C4"/>
            </a:solidFill>
            <a:prstDash val="solid"/>
          </a:ln>
        </p:spPr>
      </p:sp>
      <p:pic>
        <p:nvPicPr>
          <p:cNvPr id="5" name="Image 1" descr="logo_small.png">    </p:cNvPr>
          <p:cNvPicPr>
            <a:picLocks noChangeAspect="1"/>
          </p:cNvPicPr>
          <p:nvPr/>
        </p:nvPicPr>
        <p:blipFill>
          <a:blip r:embed="rId2"/>
          <a:stretch>
            <a:fillRect/>
          </a:stretch>
        </p:blipFill>
        <p:spPr>
          <a:xfrm>
            <a:off x="256032" y="6473952"/>
            <a:ext cx="292608" cy="292608"/>
          </a:xfrm>
          <a:prstGeom prst="rect">
            <a:avLst/>
          </a:prstGeom>
        </p:spPr>
      </p:pic>
      <p:sp>
        <p:nvSpPr>
          <p:cNvPr id="6" name="Text 2"/>
          <p:cNvSpPr/>
          <p:nvPr/>
        </p:nvSpPr>
        <p:spPr>
          <a:xfrm>
            <a:off x="594360" y="6437376"/>
            <a:ext cx="3200400" cy="219456"/>
          </a:xfrm>
          <a:prstGeom prst="rect">
            <a:avLst/>
          </a:prstGeom>
          <a:noFill/>
          <a:ln/>
        </p:spPr>
        <p:txBody>
          <a:bodyPr wrap="square" lIns="0" tIns="0" rIns="0" bIns="0" rtlCol="0" anchor="t"/>
          <a:lstStyle/>
          <a:p>
            <a:pPr indent="0" marL="0">
              <a:buNone/>
            </a:pPr>
            <a:r>
              <a:rPr lang="en-US" sz="1200" b="1" dirty="0">
                <a:solidFill>
                  <a:srgbClr val="4472C4"/>
                </a:solidFill>
                <a:latin typeface="Times New Roman" pitchFamily="34" charset="0"/>
                <a:ea typeface="Times New Roman" pitchFamily="34" charset="-122"/>
                <a:cs typeface="Times New Roman" pitchFamily="34" charset="-120"/>
              </a:rPr>
              <a:t>ĐẠI HỌC CẦN THƠ</a:t>
            </a:r>
            <a:endParaRPr lang="en-US" sz="1200" dirty="0"/>
          </a:p>
        </p:txBody>
      </p:sp>
      <p:sp>
        <p:nvSpPr>
          <p:cNvPr id="7" name="Text 3"/>
          <p:cNvSpPr/>
          <p:nvPr/>
        </p:nvSpPr>
        <p:spPr>
          <a:xfrm>
            <a:off x="594360" y="6638544"/>
            <a:ext cx="3200400" cy="182880"/>
          </a:xfrm>
          <a:prstGeom prst="rect">
            <a:avLst/>
          </a:prstGeom>
          <a:noFill/>
          <a:ln/>
        </p:spPr>
        <p:txBody>
          <a:bodyPr wrap="square" lIns="0" tIns="0" rIns="0" bIns="0" rtlCol="0" anchor="ctr"/>
          <a:lstStyle/>
          <a:p>
            <a:pPr indent="0" marL="0">
              <a:buNone/>
            </a:pPr>
            <a:r>
              <a:rPr lang="en-US" sz="700" dirty="0">
                <a:solidFill>
                  <a:srgbClr val="7F7F7F"/>
                </a:solidFill>
                <a:latin typeface="Arial" pitchFamily="34" charset="0"/>
                <a:ea typeface="Arial" pitchFamily="34" charset="-122"/>
                <a:cs typeface="Arial" pitchFamily="34" charset="-120"/>
              </a:rPr>
              <a:t>Cộng đồng - Toàn diện - Ưu việt</a:t>
            </a:r>
            <a:endParaRPr lang="en-US" sz="700" dirty="0"/>
          </a:p>
        </p:txBody>
      </p:sp>
      <p:sp>
        <p:nvSpPr>
          <p:cNvPr id="8" name="Shape 4"/>
          <p:cNvSpPr/>
          <p:nvPr/>
        </p:nvSpPr>
        <p:spPr>
          <a:xfrm>
            <a:off x="2011680" y="6638544"/>
            <a:ext cx="8351215" cy="0"/>
          </a:xfrm>
          <a:prstGeom prst="line">
            <a:avLst/>
          </a:prstGeom>
          <a:noFill/>
          <a:ln w="15875">
            <a:solidFill>
              <a:srgbClr val="01B0F1"/>
            </a:solidFill>
            <a:prstDash val="solid"/>
          </a:ln>
        </p:spPr>
      </p:sp>
      <p:sp>
        <p:nvSpPr>
          <p:cNvPr id="9" name="Text 5"/>
          <p:cNvSpPr/>
          <p:nvPr/>
        </p:nvSpPr>
        <p:spPr>
          <a:xfrm>
            <a:off x="10362895" y="6473952"/>
            <a:ext cx="1554480" cy="256032"/>
          </a:xfrm>
          <a:prstGeom prst="rect">
            <a:avLst/>
          </a:prstGeom>
          <a:noFill/>
          <a:ln/>
        </p:spPr>
        <p:txBody>
          <a:bodyPr wrap="square" lIns="0" tIns="0" rIns="0" bIns="0" rtlCol="0" anchor="t"/>
          <a:lstStyle/>
          <a:p>
            <a:pPr algn="r" indent="0" marL="0">
              <a:buNone/>
            </a:pPr>
            <a:r>
              <a:rPr lang="en-US" sz="1100" b="1" dirty="0">
                <a:solidFill>
                  <a:srgbClr val="01B0F1"/>
                </a:solidFill>
                <a:latin typeface="Arial" pitchFamily="34" charset="0"/>
                <a:ea typeface="Arial" pitchFamily="34" charset="-122"/>
                <a:cs typeface="Arial" pitchFamily="34" charset="-120"/>
              </a:rPr>
              <a:t>www.ctu.edu.vn</a:t>
            </a:r>
            <a:endParaRPr lang="en-US" sz="1100" dirty="0"/>
          </a:p>
        </p:txBody>
      </p:sp>
      <p:sp>
        <p:nvSpPr>
          <p:cNvPr id="10" name="Text 6"/>
          <p:cNvSpPr/>
          <p:nvPr/>
        </p:nvSpPr>
        <p:spPr>
          <a:xfrm>
            <a:off x="11871655" y="6473952"/>
            <a:ext cx="274320" cy="256032"/>
          </a:xfrm>
          <a:prstGeom prst="rect">
            <a:avLst/>
          </a:prstGeom>
          <a:solidFill>
            <a:srgbClr val="01B0F1"/>
          </a:solid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10</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1188720" y="1554480"/>
          <a:ext cx="9784080" cy="3291840"/>
        </p:xfrm>
        <a:graphic>
          <a:graphicData uri="http://schemas.openxmlformats.org/drawingml/2006/table">
            <a:tbl>
              <a:tblPr/>
              <a:tblGrid>
                <a:gridCol w="3108960"/>
                <a:gridCol w="6675120"/>
              </a:tblGrid>
              <a:tr h="548640">
                <a:tc>
                  <a:txBody>
                    <a:bodyPr/>
                    <a:lstStyle/>
                    <a:p>
                      <a:pPr indent="0" marL="0">
                        <a:buNone/>
                      </a:pPr>
                      <a:r>
                        <a:rPr lang="en-US" sz="1600" b="1" dirty="0">
                          <a:solidFill>
                            <a:srgbClr val="FFFFFF"/>
                          </a:solidFill>
                          <a:latin typeface="Times New Roman" pitchFamily="34" charset="0"/>
                          <a:ea typeface="Times New Roman" pitchFamily="34" charset="-122"/>
                          <a:cs typeface="Times New Roman" pitchFamily="34" charset="-120"/>
                        </a:rPr>
                        <a:t>Thành phần</a:t>
                      </a:r>
                      <a:endParaRPr lang="en-US" sz="1600" dirty="0">
                        <a:latin typeface="Times New Roman" charset="0"/>
                        <a:ea typeface="Times New Roman" charset="0"/>
                        <a:cs typeface="Times New Roman"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4472C4"/>
                    </a:solidFill>
                  </a:tcPr>
                </a:tc>
                <a:tc>
                  <a:txBody>
                    <a:bodyPr/>
                    <a:lstStyle/>
                    <a:p>
                      <a:pPr indent="0" marL="0">
                        <a:buNone/>
                      </a:pPr>
                      <a:r>
                        <a:rPr lang="en-US" sz="1600" b="1" dirty="0">
                          <a:solidFill>
                            <a:srgbClr val="FFFFFF"/>
                          </a:solidFill>
                          <a:latin typeface="Times New Roman" pitchFamily="34" charset="0"/>
                          <a:ea typeface="Times New Roman" pitchFamily="34" charset="-122"/>
                          <a:cs typeface="Times New Roman" pitchFamily="34" charset="-120"/>
                        </a:rPr>
                        <a:t>Lựa chọn</a:t>
                      </a:r>
                      <a:endParaRPr lang="en-US" sz="1600" dirty="0">
                        <a:latin typeface="Times New Roman" charset="0"/>
                        <a:ea typeface="Times New Roman" charset="0"/>
                        <a:cs typeface="Times New Roman"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4472C4"/>
                    </a:solidFill>
                  </a:tcPr>
                </a:tc>
              </a:tr>
              <a:tr h="548640">
                <a:tc>
                  <a:txBody>
                    <a:bodyPr/>
                    <a:lstStyle/>
                    <a:p>
                      <a:pPr indent="0" marL="0">
                        <a:buNone/>
                      </a:pPr>
                      <a:r>
                        <a:rPr lang="en-US" sz="1600" dirty="0">
                          <a:solidFill>
                            <a:srgbClr val="000000"/>
                          </a:solidFill>
                          <a:latin typeface="Times New Roman" pitchFamily="34" charset="0"/>
                          <a:ea typeface="Times New Roman" pitchFamily="34" charset="-122"/>
                          <a:cs typeface="Times New Roman" pitchFamily="34" charset="-120"/>
                        </a:rPr>
                        <a:t>Backend</a:t>
                      </a:r>
                      <a:endParaRPr lang="en-US" sz="1600" dirty="0">
                        <a:latin typeface="Times New Roman" charset="0"/>
                        <a:ea typeface="Times New Roman" charset="0"/>
                        <a:cs typeface="Times New Roman"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600" dirty="0">
                          <a:solidFill>
                            <a:srgbClr val="000000"/>
                          </a:solidFill>
                          <a:latin typeface="Times New Roman" pitchFamily="34" charset="0"/>
                          <a:ea typeface="Times New Roman" pitchFamily="34" charset="-122"/>
                          <a:cs typeface="Times New Roman" pitchFamily="34" charset="-120"/>
                        </a:rPr>
                        <a:t>Python (FastAPI) — API chính + module search dùng chung 1 service</a:t>
                      </a:r>
                      <a:endParaRPr lang="en-US" sz="1600" dirty="0">
                        <a:latin typeface="Times New Roman" charset="0"/>
                        <a:ea typeface="Times New Roman" charset="0"/>
                        <a:cs typeface="Times New Roman"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548640">
                <a:tc>
                  <a:txBody>
                    <a:bodyPr/>
                    <a:lstStyle/>
                    <a:p>
                      <a:pPr indent="0" marL="0">
                        <a:buNone/>
                      </a:pPr>
                      <a:r>
                        <a:rPr lang="en-US" sz="1600" dirty="0">
                          <a:solidFill>
                            <a:srgbClr val="000000"/>
                          </a:solidFill>
                          <a:latin typeface="Times New Roman" pitchFamily="34" charset="0"/>
                          <a:ea typeface="Times New Roman" pitchFamily="34" charset="-122"/>
                          <a:cs typeface="Times New Roman" pitchFamily="34" charset="-120"/>
                        </a:rPr>
                        <a:t>Cơ sở dữ liệu</a:t>
                      </a:r>
                      <a:endParaRPr lang="en-US" sz="1600" dirty="0">
                        <a:latin typeface="Times New Roman" charset="0"/>
                        <a:ea typeface="Times New Roman" charset="0"/>
                        <a:cs typeface="Times New Roman"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600" dirty="0">
                          <a:solidFill>
                            <a:srgbClr val="000000"/>
                          </a:solidFill>
                          <a:latin typeface="Times New Roman" pitchFamily="34" charset="0"/>
                          <a:ea typeface="Times New Roman" pitchFamily="34" charset="-122"/>
                          <a:cs typeface="Times New Roman" pitchFamily="34" charset="-120"/>
                        </a:rPr>
                        <a:t>MongoDB (driver Motor - async)</a:t>
                      </a:r>
                      <a:endParaRPr lang="en-US" sz="1600" dirty="0">
                        <a:latin typeface="Times New Roman" charset="0"/>
                        <a:ea typeface="Times New Roman" charset="0"/>
                        <a:cs typeface="Times New Roman"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548640">
                <a:tc>
                  <a:txBody>
                    <a:bodyPr/>
                    <a:lstStyle/>
                    <a:p>
                      <a:pPr indent="0" marL="0">
                        <a:buNone/>
                      </a:pPr>
                      <a:r>
                        <a:rPr lang="en-US" sz="1600" dirty="0">
                          <a:solidFill>
                            <a:srgbClr val="000000"/>
                          </a:solidFill>
                          <a:latin typeface="Times New Roman" pitchFamily="34" charset="0"/>
                          <a:ea typeface="Times New Roman" pitchFamily="34" charset="-122"/>
                          <a:cs typeface="Times New Roman" pitchFamily="34" charset="-120"/>
                        </a:rPr>
                        <a:t>Xác thực</a:t>
                      </a:r>
                      <a:endParaRPr lang="en-US" sz="1600" dirty="0">
                        <a:latin typeface="Times New Roman" charset="0"/>
                        <a:ea typeface="Times New Roman" charset="0"/>
                        <a:cs typeface="Times New Roman"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600" dirty="0">
                          <a:solidFill>
                            <a:srgbClr val="000000"/>
                          </a:solidFill>
                          <a:latin typeface="Times New Roman" pitchFamily="34" charset="0"/>
                          <a:ea typeface="Times New Roman" pitchFamily="34" charset="-122"/>
                          <a:cs typeface="Times New Roman" pitchFamily="34" charset="-120"/>
                        </a:rPr>
                        <a:t>PyJWT + bcrypt (hash password)</a:t>
                      </a:r>
                      <a:endParaRPr lang="en-US" sz="1600" dirty="0">
                        <a:latin typeface="Times New Roman" charset="0"/>
                        <a:ea typeface="Times New Roman" charset="0"/>
                        <a:cs typeface="Times New Roman"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548640">
                <a:tc>
                  <a:txBody>
                    <a:bodyPr/>
                    <a:lstStyle/>
                    <a:p>
                      <a:pPr indent="0" marL="0">
                        <a:buNone/>
                      </a:pPr>
                      <a:r>
                        <a:rPr lang="en-US" sz="1600" dirty="0">
                          <a:solidFill>
                            <a:srgbClr val="000000"/>
                          </a:solidFill>
                          <a:latin typeface="Times New Roman" pitchFamily="34" charset="0"/>
                          <a:ea typeface="Times New Roman" pitchFamily="34" charset="-122"/>
                          <a:cs typeface="Times New Roman" pitchFamily="34" charset="-120"/>
                        </a:rPr>
                        <a:t>Xử lý vector</a:t>
                      </a:r>
                      <a:endParaRPr lang="en-US" sz="1600" dirty="0">
                        <a:latin typeface="Times New Roman" charset="0"/>
                        <a:ea typeface="Times New Roman" charset="0"/>
                        <a:cs typeface="Times New Roman"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600" dirty="0">
                          <a:solidFill>
                            <a:srgbClr val="000000"/>
                          </a:solidFill>
                          <a:latin typeface="Times New Roman" pitchFamily="34" charset="0"/>
                          <a:ea typeface="Times New Roman" pitchFamily="34" charset="-122"/>
                          <a:cs typeface="Times New Roman" pitchFamily="34" charset="-120"/>
                        </a:rPr>
                        <a:t>scikit-learn (TfidfVectorizer), sentence-transformers (SBERT)</a:t>
                      </a:r>
                      <a:endParaRPr lang="en-US" sz="1600" dirty="0">
                        <a:latin typeface="Times New Roman" charset="0"/>
                        <a:ea typeface="Times New Roman" charset="0"/>
                        <a:cs typeface="Times New Roman"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548640">
                <a:tc>
                  <a:txBody>
                    <a:bodyPr/>
                    <a:lstStyle/>
                    <a:p>
                      <a:pPr indent="0" marL="0">
                        <a:buNone/>
                      </a:pPr>
                      <a:r>
                        <a:rPr lang="en-US" sz="1600" dirty="0">
                          <a:solidFill>
                            <a:srgbClr val="000000"/>
                          </a:solidFill>
                          <a:latin typeface="Times New Roman" pitchFamily="34" charset="0"/>
                          <a:ea typeface="Times New Roman" pitchFamily="34" charset="-122"/>
                          <a:cs typeface="Times New Roman" pitchFamily="34" charset="-120"/>
                        </a:rPr>
                        <a:t>Frontend</a:t>
                      </a:r>
                      <a:endParaRPr lang="en-US" sz="1600" dirty="0">
                        <a:latin typeface="Times New Roman" charset="0"/>
                        <a:ea typeface="Times New Roman" charset="0"/>
                        <a:cs typeface="Times New Roman"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600" dirty="0">
                          <a:solidFill>
                            <a:srgbClr val="000000"/>
                          </a:solidFill>
                          <a:latin typeface="Times New Roman" pitchFamily="34" charset="0"/>
                          <a:ea typeface="Times New Roman" pitchFamily="34" charset="-122"/>
                          <a:cs typeface="Times New Roman" pitchFamily="34" charset="-120"/>
                        </a:rPr>
                        <a:t>Svelte (SvelteKit, chế độ SPA)</a:t>
                      </a:r>
                      <a:endParaRPr lang="en-US" sz="1600" dirty="0">
                        <a:latin typeface="Times New Roman" charset="0"/>
                        <a:ea typeface="Times New Roman" charset="0"/>
                        <a:cs typeface="Times New Roman"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logo_big.png">    </p:cNvPr>
          <p:cNvPicPr>
            <a:picLocks noChangeAspect="1"/>
          </p:cNvPicPr>
          <p:nvPr/>
        </p:nvPicPr>
        <p:blipFill>
          <a:blip r:embed="rId1"/>
          <a:stretch>
            <a:fillRect/>
          </a:stretch>
        </p:blipFill>
        <p:spPr>
          <a:xfrm>
            <a:off x="164592" y="128016"/>
            <a:ext cx="960120" cy="960120"/>
          </a:xfrm>
          <a:prstGeom prst="rect">
            <a:avLst/>
          </a:prstGeom>
        </p:spPr>
      </p:pic>
      <p:sp>
        <p:nvSpPr>
          <p:cNvPr id="3" name="Text 0"/>
          <p:cNvSpPr/>
          <p:nvPr/>
        </p:nvSpPr>
        <p:spPr>
          <a:xfrm>
            <a:off x="1371600" y="109728"/>
            <a:ext cx="10545775" cy="777240"/>
          </a:xfrm>
          <a:prstGeom prst="rect">
            <a:avLst/>
          </a:prstGeom>
          <a:noFill/>
          <a:ln/>
        </p:spPr>
        <p:txBody>
          <a:bodyPr wrap="square" lIns="0" tIns="0" rIns="0" bIns="0" rtlCol="0" anchor="ctr"/>
          <a:lstStyle/>
          <a:p>
            <a:pPr algn="ctr" indent="0" marL="0">
              <a:buNone/>
            </a:pPr>
            <a:r>
              <a:rPr lang="en-US" sz="2600" b="1" dirty="0">
                <a:solidFill>
                  <a:srgbClr val="4472C4"/>
                </a:solidFill>
                <a:latin typeface="Times New Roman" pitchFamily="34" charset="0"/>
                <a:ea typeface="Times New Roman" pitchFamily="34" charset="-122"/>
                <a:cs typeface="Times New Roman" pitchFamily="34" charset="-120"/>
              </a:rPr>
              <a:t>KẾT QUẢ THỰC NGHIỆM</a:t>
            </a:r>
            <a:endParaRPr lang="en-US" sz="2600" dirty="0"/>
          </a:p>
        </p:txBody>
      </p:sp>
      <p:sp>
        <p:nvSpPr>
          <p:cNvPr id="4" name="Shape 1"/>
          <p:cNvSpPr/>
          <p:nvPr/>
        </p:nvSpPr>
        <p:spPr>
          <a:xfrm>
            <a:off x="1371600" y="932688"/>
            <a:ext cx="10545775" cy="0"/>
          </a:xfrm>
          <a:prstGeom prst="line">
            <a:avLst/>
          </a:prstGeom>
          <a:noFill/>
          <a:ln w="19050">
            <a:solidFill>
              <a:srgbClr val="4472C4"/>
            </a:solidFill>
            <a:prstDash val="solid"/>
          </a:ln>
        </p:spPr>
      </p:sp>
      <p:pic>
        <p:nvPicPr>
          <p:cNvPr id="5" name="Image 1" descr="logo_small.png">    </p:cNvPr>
          <p:cNvPicPr>
            <a:picLocks noChangeAspect="1"/>
          </p:cNvPicPr>
          <p:nvPr/>
        </p:nvPicPr>
        <p:blipFill>
          <a:blip r:embed="rId2"/>
          <a:stretch>
            <a:fillRect/>
          </a:stretch>
        </p:blipFill>
        <p:spPr>
          <a:xfrm>
            <a:off x="256032" y="6473952"/>
            <a:ext cx="292608" cy="292608"/>
          </a:xfrm>
          <a:prstGeom prst="rect">
            <a:avLst/>
          </a:prstGeom>
        </p:spPr>
      </p:pic>
      <p:sp>
        <p:nvSpPr>
          <p:cNvPr id="6" name="Text 2"/>
          <p:cNvSpPr/>
          <p:nvPr/>
        </p:nvSpPr>
        <p:spPr>
          <a:xfrm>
            <a:off x="594360" y="6437376"/>
            <a:ext cx="3200400" cy="219456"/>
          </a:xfrm>
          <a:prstGeom prst="rect">
            <a:avLst/>
          </a:prstGeom>
          <a:noFill/>
          <a:ln/>
        </p:spPr>
        <p:txBody>
          <a:bodyPr wrap="square" lIns="0" tIns="0" rIns="0" bIns="0" rtlCol="0" anchor="t"/>
          <a:lstStyle/>
          <a:p>
            <a:pPr indent="0" marL="0">
              <a:buNone/>
            </a:pPr>
            <a:r>
              <a:rPr lang="en-US" sz="1200" b="1" dirty="0">
                <a:solidFill>
                  <a:srgbClr val="4472C4"/>
                </a:solidFill>
                <a:latin typeface="Times New Roman" pitchFamily="34" charset="0"/>
                <a:ea typeface="Times New Roman" pitchFamily="34" charset="-122"/>
                <a:cs typeface="Times New Roman" pitchFamily="34" charset="-120"/>
              </a:rPr>
              <a:t>ĐẠI HỌC CẦN THƠ</a:t>
            </a:r>
            <a:endParaRPr lang="en-US" sz="1200" dirty="0"/>
          </a:p>
        </p:txBody>
      </p:sp>
      <p:sp>
        <p:nvSpPr>
          <p:cNvPr id="7" name="Text 3"/>
          <p:cNvSpPr/>
          <p:nvPr/>
        </p:nvSpPr>
        <p:spPr>
          <a:xfrm>
            <a:off x="594360" y="6638544"/>
            <a:ext cx="3200400" cy="182880"/>
          </a:xfrm>
          <a:prstGeom prst="rect">
            <a:avLst/>
          </a:prstGeom>
          <a:noFill/>
          <a:ln/>
        </p:spPr>
        <p:txBody>
          <a:bodyPr wrap="square" lIns="0" tIns="0" rIns="0" bIns="0" rtlCol="0" anchor="ctr"/>
          <a:lstStyle/>
          <a:p>
            <a:pPr indent="0" marL="0">
              <a:buNone/>
            </a:pPr>
            <a:r>
              <a:rPr lang="en-US" sz="700" dirty="0">
                <a:solidFill>
                  <a:srgbClr val="7F7F7F"/>
                </a:solidFill>
                <a:latin typeface="Arial" pitchFamily="34" charset="0"/>
                <a:ea typeface="Arial" pitchFamily="34" charset="-122"/>
                <a:cs typeface="Arial" pitchFamily="34" charset="-120"/>
              </a:rPr>
              <a:t>Cộng đồng - Toàn diện - Ưu việt</a:t>
            </a:r>
            <a:endParaRPr lang="en-US" sz="700" dirty="0"/>
          </a:p>
        </p:txBody>
      </p:sp>
      <p:sp>
        <p:nvSpPr>
          <p:cNvPr id="8" name="Shape 4"/>
          <p:cNvSpPr/>
          <p:nvPr/>
        </p:nvSpPr>
        <p:spPr>
          <a:xfrm>
            <a:off x="2011680" y="6638544"/>
            <a:ext cx="8351215" cy="0"/>
          </a:xfrm>
          <a:prstGeom prst="line">
            <a:avLst/>
          </a:prstGeom>
          <a:noFill/>
          <a:ln w="15875">
            <a:solidFill>
              <a:srgbClr val="01B0F1"/>
            </a:solidFill>
            <a:prstDash val="solid"/>
          </a:ln>
        </p:spPr>
      </p:sp>
      <p:sp>
        <p:nvSpPr>
          <p:cNvPr id="9" name="Text 5"/>
          <p:cNvSpPr/>
          <p:nvPr/>
        </p:nvSpPr>
        <p:spPr>
          <a:xfrm>
            <a:off x="10362895" y="6473952"/>
            <a:ext cx="1554480" cy="256032"/>
          </a:xfrm>
          <a:prstGeom prst="rect">
            <a:avLst/>
          </a:prstGeom>
          <a:noFill/>
          <a:ln/>
        </p:spPr>
        <p:txBody>
          <a:bodyPr wrap="square" lIns="0" tIns="0" rIns="0" bIns="0" rtlCol="0" anchor="t"/>
          <a:lstStyle/>
          <a:p>
            <a:pPr algn="r" indent="0" marL="0">
              <a:buNone/>
            </a:pPr>
            <a:r>
              <a:rPr lang="en-US" sz="1100" b="1" dirty="0">
                <a:solidFill>
                  <a:srgbClr val="01B0F1"/>
                </a:solidFill>
                <a:latin typeface="Arial" pitchFamily="34" charset="0"/>
                <a:ea typeface="Arial" pitchFamily="34" charset="-122"/>
                <a:cs typeface="Arial" pitchFamily="34" charset="-120"/>
              </a:rPr>
              <a:t>www.ctu.edu.vn</a:t>
            </a:r>
            <a:endParaRPr lang="en-US" sz="1100" dirty="0"/>
          </a:p>
        </p:txBody>
      </p:sp>
      <p:sp>
        <p:nvSpPr>
          <p:cNvPr id="10" name="Text 6"/>
          <p:cNvSpPr/>
          <p:nvPr/>
        </p:nvSpPr>
        <p:spPr>
          <a:xfrm>
            <a:off x="11871655" y="6473952"/>
            <a:ext cx="274320" cy="256032"/>
          </a:xfrm>
          <a:prstGeom prst="rect">
            <a:avLst/>
          </a:prstGeom>
          <a:solidFill>
            <a:srgbClr val="01B0F1"/>
          </a:solid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11</a:t>
            </a:r>
            <a:endParaRPr lang="en-US" sz="1000" dirty="0"/>
          </a:p>
        </p:txBody>
      </p:sp>
      <p:sp>
        <p:nvSpPr>
          <p:cNvPr id="11" name="Text 7"/>
          <p:cNvSpPr/>
          <p:nvPr/>
        </p:nvSpPr>
        <p:spPr>
          <a:xfrm>
            <a:off x="822960" y="1143000"/>
            <a:ext cx="10515600" cy="365760"/>
          </a:xfrm>
          <a:prstGeom prst="rect">
            <a:avLst/>
          </a:prstGeom>
          <a:noFill/>
          <a:ln/>
        </p:spPr>
        <p:txBody>
          <a:bodyPr wrap="square" rtlCol="0" anchor="ctr"/>
          <a:lstStyle/>
          <a:p>
            <a:pPr indent="0" marL="0">
              <a:buNone/>
            </a:pPr>
            <a:r>
              <a:rPr lang="en-US" sz="1500" i="1" dirty="0">
                <a:solidFill>
                  <a:srgbClr val="7F7F7F"/>
                </a:solidFill>
                <a:latin typeface="Times New Roman" pitchFamily="34" charset="0"/>
                <a:ea typeface="Times New Roman" pitchFamily="34" charset="-122"/>
                <a:cs typeface="Times New Roman" pitchFamily="34" charset="-120"/>
              </a:rPr>
              <a:t>Bộ dữ liệu: 5.969 câu hỏi thật · 15 truy vấn test · đo 5 lần lấy trung bình</a:t>
            </a:r>
            <a:endParaRPr lang="en-US" sz="15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822960" y="1691640"/>
          <a:ext cx="10515600" cy="3566160"/>
        </p:xfrm>
        <a:graphic>
          <a:graphicData uri="http://schemas.openxmlformats.org/drawingml/2006/table">
            <a:tbl>
              <a:tblPr/>
              <a:tblGrid>
                <a:gridCol w="5029200"/>
                <a:gridCol w="2743200"/>
                <a:gridCol w="2743200"/>
              </a:tblGrid>
              <a:tr h="594360">
                <a:tc>
                  <a:txBody>
                    <a:bodyPr/>
                    <a:lstStyle/>
                    <a:p>
                      <a:pPr indent="0" marL="0">
                        <a:buNone/>
                      </a:pPr>
                      <a:r>
                        <a:rPr lang="en-US" sz="1550" b="1" dirty="0">
                          <a:solidFill>
                            <a:srgbClr val="FFFFFF"/>
                          </a:solidFill>
                          <a:latin typeface="Times New Roman" pitchFamily="34" charset="0"/>
                          <a:ea typeface="Times New Roman" pitchFamily="34" charset="-122"/>
                          <a:cs typeface="Times New Roman" pitchFamily="34" charset="-120"/>
                        </a:rPr>
                        <a:t>Chỉ số</a:t>
                      </a:r>
                      <a:endParaRPr lang="en-US" sz="1550" dirty="0">
                        <a:latin typeface="Times New Roman" charset="0"/>
                        <a:ea typeface="Times New Roman" charset="0"/>
                        <a:cs typeface="Times New Roman"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550" b="1" dirty="0">
                          <a:solidFill>
                            <a:srgbClr val="FFFFFF"/>
                          </a:solidFill>
                          <a:latin typeface="Times New Roman" pitchFamily="34" charset="0"/>
                          <a:ea typeface="Times New Roman" pitchFamily="34" charset="-122"/>
                          <a:cs typeface="Times New Roman" pitchFamily="34" charset="-120"/>
                        </a:rPr>
                        <a:t>TF-IDF</a:t>
                      </a:r>
                      <a:endParaRPr lang="en-US" sz="1550" dirty="0">
                        <a:latin typeface="Times New Roman" charset="0"/>
                        <a:ea typeface="Times New Roman" charset="0"/>
                        <a:cs typeface="Times New Roman"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550" b="1" dirty="0">
                          <a:solidFill>
                            <a:srgbClr val="FFFFFF"/>
                          </a:solidFill>
                          <a:latin typeface="Times New Roman" pitchFamily="34" charset="0"/>
                          <a:ea typeface="Times New Roman" pitchFamily="34" charset="-122"/>
                          <a:cs typeface="Times New Roman" pitchFamily="34" charset="-120"/>
                        </a:rPr>
                        <a:t>SBERT</a:t>
                      </a:r>
                      <a:endParaRPr lang="en-US" sz="1550" dirty="0">
                        <a:latin typeface="Times New Roman" charset="0"/>
                        <a:ea typeface="Times New Roman" charset="0"/>
                        <a:cs typeface="Times New Roman"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4472C4"/>
                    </a:solidFill>
                  </a:tcPr>
                </a:tc>
              </a:tr>
              <a:tr h="594360">
                <a:tc>
                  <a:txBody>
                    <a:bodyPr/>
                    <a:lstStyle/>
                    <a:p>
                      <a:pPr indent="0" marL="0">
                        <a:buNone/>
                      </a:pPr>
                      <a:r>
                        <a:rPr lang="en-US" sz="1550" dirty="0">
                          <a:solidFill>
                            <a:srgbClr val="000000"/>
                          </a:solidFill>
                          <a:latin typeface="Times New Roman" pitchFamily="34" charset="0"/>
                          <a:ea typeface="Times New Roman" pitchFamily="34" charset="-122"/>
                          <a:cs typeface="Times New Roman" pitchFamily="34" charset="-120"/>
                        </a:rPr>
                        <a:t>Thời gian xây chỉ mục (5.969 câu hỏi)</a:t>
                      </a:r>
                      <a:endParaRPr lang="en-US" sz="1550" dirty="0">
                        <a:latin typeface="Times New Roman" charset="0"/>
                        <a:ea typeface="Times New Roman" charset="0"/>
                        <a:cs typeface="Times New Roman"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buNone/>
                      </a:pPr>
                      <a:r>
                        <a:rPr lang="en-US" sz="1550" dirty="0">
                          <a:solidFill>
                            <a:srgbClr val="000000"/>
                          </a:solidFill>
                          <a:latin typeface="Times New Roman" pitchFamily="34" charset="0"/>
                          <a:ea typeface="Times New Roman" pitchFamily="34" charset="-122"/>
                          <a:cs typeface="Times New Roman" pitchFamily="34" charset="-120"/>
                        </a:rPr>
                        <a:t>346,8 ms</a:t>
                      </a:r>
                      <a:endParaRPr lang="en-US" sz="1550" dirty="0">
                        <a:latin typeface="Times New Roman" charset="0"/>
                        <a:ea typeface="Times New Roman" charset="0"/>
                        <a:cs typeface="Times New Roman"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buNone/>
                      </a:pPr>
                      <a:r>
                        <a:rPr lang="en-US" sz="1550" dirty="0">
                          <a:solidFill>
                            <a:srgbClr val="000000"/>
                          </a:solidFill>
                          <a:latin typeface="Times New Roman" pitchFamily="34" charset="0"/>
                          <a:ea typeface="Times New Roman" pitchFamily="34" charset="-122"/>
                          <a:cs typeface="Times New Roman" pitchFamily="34" charset="-120"/>
                        </a:rPr>
                        <a:t>38,12 giây</a:t>
                      </a:r>
                      <a:endParaRPr lang="en-US" sz="1550" dirty="0">
                        <a:latin typeface="Times New Roman" charset="0"/>
                        <a:ea typeface="Times New Roman" charset="0"/>
                        <a:cs typeface="Times New Roman"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594360">
                <a:tc>
                  <a:txBody>
                    <a:bodyPr/>
                    <a:lstStyle/>
                    <a:p>
                      <a:pPr indent="0" marL="0">
                        <a:buNone/>
                      </a:pPr>
                      <a:r>
                        <a:rPr lang="en-US" sz="1550" dirty="0">
                          <a:solidFill>
                            <a:srgbClr val="000000"/>
                          </a:solidFill>
                          <a:latin typeface="Times New Roman" pitchFamily="34" charset="0"/>
                          <a:ea typeface="Times New Roman" pitchFamily="34" charset="-122"/>
                          <a:cs typeface="Times New Roman" pitchFamily="34" charset="-120"/>
                        </a:rPr>
                        <a:t>Thời gian phản hồi trung bình</a:t>
                      </a:r>
                      <a:endParaRPr lang="en-US" sz="1550" dirty="0">
                        <a:latin typeface="Times New Roman" charset="0"/>
                        <a:ea typeface="Times New Roman" charset="0"/>
                        <a:cs typeface="Times New Roman"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buNone/>
                      </a:pPr>
                      <a:r>
                        <a:rPr lang="en-US" sz="1550" dirty="0">
                          <a:solidFill>
                            <a:srgbClr val="000000"/>
                          </a:solidFill>
                          <a:latin typeface="Times New Roman" pitchFamily="34" charset="0"/>
                          <a:ea typeface="Times New Roman" pitchFamily="34" charset="-122"/>
                          <a:cs typeface="Times New Roman" pitchFamily="34" charset="-120"/>
                        </a:rPr>
                        <a:t>11,98 ms</a:t>
                      </a:r>
                      <a:endParaRPr lang="en-US" sz="1550" dirty="0">
                        <a:latin typeface="Times New Roman" charset="0"/>
                        <a:ea typeface="Times New Roman" charset="0"/>
                        <a:cs typeface="Times New Roman"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buNone/>
                      </a:pPr>
                      <a:r>
                        <a:rPr lang="en-US" sz="1550" dirty="0">
                          <a:solidFill>
                            <a:srgbClr val="000000"/>
                          </a:solidFill>
                          <a:latin typeface="Times New Roman" pitchFamily="34" charset="0"/>
                          <a:ea typeface="Times New Roman" pitchFamily="34" charset="-122"/>
                          <a:cs typeface="Times New Roman" pitchFamily="34" charset="-120"/>
                        </a:rPr>
                        <a:t>19,09 ms</a:t>
                      </a:r>
                      <a:endParaRPr lang="en-US" sz="1550" dirty="0">
                        <a:latin typeface="Times New Roman" charset="0"/>
                        <a:ea typeface="Times New Roman" charset="0"/>
                        <a:cs typeface="Times New Roman"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594360">
                <a:tc>
                  <a:txBody>
                    <a:bodyPr/>
                    <a:lstStyle/>
                    <a:p>
                      <a:pPr indent="0" marL="0">
                        <a:buNone/>
                      </a:pPr>
                      <a:r>
                        <a:rPr lang="en-US" sz="1550" dirty="0">
                          <a:solidFill>
                            <a:srgbClr val="000000"/>
                          </a:solidFill>
                          <a:latin typeface="Times New Roman" pitchFamily="34" charset="0"/>
                          <a:ea typeface="Times New Roman" pitchFamily="34" charset="-122"/>
                          <a:cs typeface="Times New Roman" pitchFamily="34" charset="-120"/>
                        </a:rPr>
                        <a:t>Precision@5 trung bình</a:t>
                      </a:r>
                      <a:endParaRPr lang="en-US" sz="1550" dirty="0">
                        <a:latin typeface="Times New Roman" charset="0"/>
                        <a:ea typeface="Times New Roman" charset="0"/>
                        <a:cs typeface="Times New Roman"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buNone/>
                      </a:pPr>
                      <a:r>
                        <a:rPr lang="en-US" sz="1550" dirty="0">
                          <a:solidFill>
                            <a:srgbClr val="000000"/>
                          </a:solidFill>
                          <a:latin typeface="Times New Roman" pitchFamily="34" charset="0"/>
                          <a:ea typeface="Times New Roman" pitchFamily="34" charset="-122"/>
                          <a:cs typeface="Times New Roman" pitchFamily="34" charset="-120"/>
                        </a:rPr>
                        <a:t>0,65</a:t>
                      </a:r>
                      <a:endParaRPr lang="en-US" sz="1550" dirty="0">
                        <a:latin typeface="Times New Roman" charset="0"/>
                        <a:ea typeface="Times New Roman" charset="0"/>
                        <a:cs typeface="Times New Roman"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buNone/>
                      </a:pPr>
                      <a:r>
                        <a:rPr lang="en-US" sz="1550" dirty="0">
                          <a:solidFill>
                            <a:srgbClr val="000000"/>
                          </a:solidFill>
                          <a:latin typeface="Times New Roman" pitchFamily="34" charset="0"/>
                          <a:ea typeface="Times New Roman" pitchFamily="34" charset="-122"/>
                          <a:cs typeface="Times New Roman" pitchFamily="34" charset="-120"/>
                        </a:rPr>
                        <a:t>0,61</a:t>
                      </a:r>
                      <a:endParaRPr lang="en-US" sz="1550" dirty="0">
                        <a:latin typeface="Times New Roman" charset="0"/>
                        <a:ea typeface="Times New Roman" charset="0"/>
                        <a:cs typeface="Times New Roman"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594360">
                <a:tc>
                  <a:txBody>
                    <a:bodyPr/>
                    <a:lstStyle/>
                    <a:p>
                      <a:pPr indent="0" marL="0">
                        <a:buNone/>
                      </a:pPr>
                      <a:r>
                        <a:rPr lang="en-US" sz="1550" dirty="0">
                          <a:solidFill>
                            <a:srgbClr val="000000"/>
                          </a:solidFill>
                          <a:latin typeface="Times New Roman" pitchFamily="34" charset="0"/>
                          <a:ea typeface="Times New Roman" pitchFamily="34" charset="-122"/>
                          <a:cs typeface="Times New Roman" pitchFamily="34" charset="-120"/>
                        </a:rPr>
                        <a:t>Precision@10 trung bình</a:t>
                      </a:r>
                      <a:endParaRPr lang="en-US" sz="1550" dirty="0">
                        <a:latin typeface="Times New Roman" charset="0"/>
                        <a:ea typeface="Times New Roman" charset="0"/>
                        <a:cs typeface="Times New Roman"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buNone/>
                      </a:pPr>
                      <a:r>
                        <a:rPr lang="en-US" sz="1550" dirty="0">
                          <a:solidFill>
                            <a:srgbClr val="000000"/>
                          </a:solidFill>
                          <a:latin typeface="Times New Roman" pitchFamily="34" charset="0"/>
                          <a:ea typeface="Times New Roman" pitchFamily="34" charset="-122"/>
                          <a:cs typeface="Times New Roman" pitchFamily="34" charset="-120"/>
                        </a:rPr>
                        <a:t>0,64</a:t>
                      </a:r>
                      <a:endParaRPr lang="en-US" sz="1550" dirty="0">
                        <a:latin typeface="Times New Roman" charset="0"/>
                        <a:ea typeface="Times New Roman" charset="0"/>
                        <a:cs typeface="Times New Roman"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buNone/>
                      </a:pPr>
                      <a:r>
                        <a:rPr lang="en-US" sz="1550" dirty="0">
                          <a:solidFill>
                            <a:srgbClr val="000000"/>
                          </a:solidFill>
                          <a:latin typeface="Times New Roman" pitchFamily="34" charset="0"/>
                          <a:ea typeface="Times New Roman" pitchFamily="34" charset="-122"/>
                          <a:cs typeface="Times New Roman" pitchFamily="34" charset="-120"/>
                        </a:rPr>
                        <a:t>0,61</a:t>
                      </a:r>
                      <a:endParaRPr lang="en-US" sz="1550" dirty="0">
                        <a:latin typeface="Times New Roman" charset="0"/>
                        <a:ea typeface="Times New Roman" charset="0"/>
                        <a:cs typeface="Times New Roman"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594360">
                <a:tc>
                  <a:txBody>
                    <a:bodyPr/>
                    <a:lstStyle/>
                    <a:p>
                      <a:pPr indent="0" marL="0">
                        <a:buNone/>
                      </a:pPr>
                      <a:r>
                        <a:rPr lang="en-US" sz="1550" dirty="0">
                          <a:solidFill>
                            <a:srgbClr val="000000"/>
                          </a:solidFill>
                          <a:latin typeface="Times New Roman" pitchFamily="34" charset="0"/>
                          <a:ea typeface="Times New Roman" pitchFamily="34" charset="-122"/>
                          <a:cs typeface="Times New Roman" pitchFamily="34" charset="-120"/>
                        </a:rPr>
                        <a:t>Đạt yêu cầu &lt; 1000ms ?</a:t>
                      </a:r>
                      <a:endParaRPr lang="en-US" sz="1550" dirty="0">
                        <a:latin typeface="Times New Roman" charset="0"/>
                        <a:ea typeface="Times New Roman" charset="0"/>
                        <a:cs typeface="Times New Roman"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buNone/>
                      </a:pPr>
                      <a:r>
                        <a:rPr lang="en-US" sz="1550" b="1" dirty="0">
                          <a:solidFill>
                            <a:srgbClr val="1E7B34"/>
                          </a:solidFill>
                          <a:latin typeface="Times New Roman" pitchFamily="34" charset="0"/>
                          <a:ea typeface="Times New Roman" pitchFamily="34" charset="-122"/>
                          <a:cs typeface="Times New Roman" pitchFamily="34" charset="-120"/>
                        </a:rPr>
                        <a:t>ĐẠT</a:t>
                      </a:r>
                      <a:endParaRPr lang="en-US" sz="1550" dirty="0">
                        <a:latin typeface="Times New Roman" charset="0"/>
                        <a:ea typeface="Times New Roman" charset="0"/>
                        <a:cs typeface="Times New Roman"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buNone/>
                      </a:pPr>
                      <a:r>
                        <a:rPr lang="en-US" sz="1550" b="1" dirty="0">
                          <a:solidFill>
                            <a:srgbClr val="1E7B34"/>
                          </a:solidFill>
                          <a:latin typeface="Times New Roman" pitchFamily="34" charset="0"/>
                          <a:ea typeface="Times New Roman" pitchFamily="34" charset="-122"/>
                          <a:cs typeface="Times New Roman" pitchFamily="34" charset="-120"/>
                        </a:rPr>
                        <a:t>ĐẠT</a:t>
                      </a:r>
                      <a:endParaRPr lang="en-US" sz="1550" dirty="0">
                        <a:latin typeface="Times New Roman" charset="0"/>
                        <a:ea typeface="Times New Roman" charset="0"/>
                        <a:cs typeface="Times New Roman"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bl>
          </a:graphicData>
        </a:graphic>
      </p:graphicFrame>
      <p:sp>
        <p:nvSpPr>
          <p:cNvPr id="13" name="Text 8"/>
          <p:cNvSpPr/>
          <p:nvPr/>
        </p:nvSpPr>
        <p:spPr>
          <a:xfrm>
            <a:off x="822960" y="5486400"/>
            <a:ext cx="10515600" cy="822960"/>
          </a:xfrm>
          <a:prstGeom prst="rect">
            <a:avLst/>
          </a:prstGeom>
          <a:noFill/>
          <a:ln/>
        </p:spPr>
        <p:txBody>
          <a:bodyPr wrap="square" rtlCol="0" anchor="t"/>
          <a:lstStyle/>
          <a:p>
            <a:pPr indent="0" marL="0">
              <a:lnSpc>
                <a:spcPct val="120000"/>
              </a:lnSpc>
              <a:buNone/>
            </a:pPr>
            <a:r>
              <a:rPr lang="en-US" sz="1450" i="1" dirty="0">
                <a:solidFill>
                  <a:srgbClr val="1F3864"/>
                </a:solidFill>
                <a:latin typeface="Times New Roman" pitchFamily="34" charset="0"/>
                <a:ea typeface="Times New Roman" pitchFamily="34" charset="-122"/>
                <a:cs typeface="Times New Roman" pitchFamily="34" charset="-120"/>
              </a:rPr>
              <a:t>Nhận xét: TF-IDF nhỉnh hơn SBERT ở bộ test này (thuật ngữ kỹ thuật khớp trực tiếp), SBERT vượt trội ở các câu diễn đạt lại/từ đồng nghĩa. Hai phương pháp có tính bổ trợ cho nhau.</a:t>
            </a:r>
            <a:endParaRPr lang="en-US" sz="1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logo_big.png">    </p:cNvPr>
          <p:cNvPicPr>
            <a:picLocks noChangeAspect="1"/>
          </p:cNvPicPr>
          <p:nvPr/>
        </p:nvPicPr>
        <p:blipFill>
          <a:blip r:embed="rId1"/>
          <a:stretch>
            <a:fillRect/>
          </a:stretch>
        </p:blipFill>
        <p:spPr>
          <a:xfrm>
            <a:off x="164592" y="128016"/>
            <a:ext cx="960120" cy="960120"/>
          </a:xfrm>
          <a:prstGeom prst="rect">
            <a:avLst/>
          </a:prstGeom>
        </p:spPr>
      </p:pic>
      <p:sp>
        <p:nvSpPr>
          <p:cNvPr id="3" name="Text 0"/>
          <p:cNvSpPr/>
          <p:nvPr/>
        </p:nvSpPr>
        <p:spPr>
          <a:xfrm>
            <a:off x="1371600" y="109728"/>
            <a:ext cx="10545775" cy="777240"/>
          </a:xfrm>
          <a:prstGeom prst="rect">
            <a:avLst/>
          </a:prstGeom>
          <a:noFill/>
          <a:ln/>
        </p:spPr>
        <p:txBody>
          <a:bodyPr wrap="square" lIns="0" tIns="0" rIns="0" bIns="0" rtlCol="0" anchor="ctr"/>
          <a:lstStyle/>
          <a:p>
            <a:pPr algn="ctr" indent="0" marL="0">
              <a:buNone/>
            </a:pPr>
            <a:r>
              <a:rPr lang="en-US" sz="2600" b="1" dirty="0">
                <a:solidFill>
                  <a:srgbClr val="4472C4"/>
                </a:solidFill>
                <a:latin typeface="Times New Roman" pitchFamily="34" charset="0"/>
                <a:ea typeface="Times New Roman" pitchFamily="34" charset="-122"/>
                <a:cs typeface="Times New Roman" pitchFamily="34" charset="-120"/>
              </a:rPr>
              <a:t>BIỂU ĐỒ SO SÁNH TF-IDF vs SBERT</a:t>
            </a:r>
            <a:endParaRPr lang="en-US" sz="2600" dirty="0"/>
          </a:p>
        </p:txBody>
      </p:sp>
      <p:sp>
        <p:nvSpPr>
          <p:cNvPr id="4" name="Shape 1"/>
          <p:cNvSpPr/>
          <p:nvPr/>
        </p:nvSpPr>
        <p:spPr>
          <a:xfrm>
            <a:off x="1371600" y="932688"/>
            <a:ext cx="10545775" cy="0"/>
          </a:xfrm>
          <a:prstGeom prst="line">
            <a:avLst/>
          </a:prstGeom>
          <a:noFill/>
          <a:ln w="19050">
            <a:solidFill>
              <a:srgbClr val="4472C4"/>
            </a:solidFill>
            <a:prstDash val="solid"/>
          </a:ln>
        </p:spPr>
      </p:sp>
      <p:pic>
        <p:nvPicPr>
          <p:cNvPr id="5" name="Image 1" descr="logo_small.png">    </p:cNvPr>
          <p:cNvPicPr>
            <a:picLocks noChangeAspect="1"/>
          </p:cNvPicPr>
          <p:nvPr/>
        </p:nvPicPr>
        <p:blipFill>
          <a:blip r:embed="rId2"/>
          <a:stretch>
            <a:fillRect/>
          </a:stretch>
        </p:blipFill>
        <p:spPr>
          <a:xfrm>
            <a:off x="256032" y="6473952"/>
            <a:ext cx="292608" cy="292608"/>
          </a:xfrm>
          <a:prstGeom prst="rect">
            <a:avLst/>
          </a:prstGeom>
        </p:spPr>
      </p:pic>
      <p:sp>
        <p:nvSpPr>
          <p:cNvPr id="6" name="Text 2"/>
          <p:cNvSpPr/>
          <p:nvPr/>
        </p:nvSpPr>
        <p:spPr>
          <a:xfrm>
            <a:off x="594360" y="6437376"/>
            <a:ext cx="3200400" cy="219456"/>
          </a:xfrm>
          <a:prstGeom prst="rect">
            <a:avLst/>
          </a:prstGeom>
          <a:noFill/>
          <a:ln/>
        </p:spPr>
        <p:txBody>
          <a:bodyPr wrap="square" lIns="0" tIns="0" rIns="0" bIns="0" rtlCol="0" anchor="t"/>
          <a:lstStyle/>
          <a:p>
            <a:pPr indent="0" marL="0">
              <a:buNone/>
            </a:pPr>
            <a:r>
              <a:rPr lang="en-US" sz="1200" b="1" dirty="0">
                <a:solidFill>
                  <a:srgbClr val="4472C4"/>
                </a:solidFill>
                <a:latin typeface="Times New Roman" pitchFamily="34" charset="0"/>
                <a:ea typeface="Times New Roman" pitchFamily="34" charset="-122"/>
                <a:cs typeface="Times New Roman" pitchFamily="34" charset="-120"/>
              </a:rPr>
              <a:t>ĐẠI HỌC CẦN THƠ</a:t>
            </a:r>
            <a:endParaRPr lang="en-US" sz="1200" dirty="0"/>
          </a:p>
        </p:txBody>
      </p:sp>
      <p:sp>
        <p:nvSpPr>
          <p:cNvPr id="7" name="Text 3"/>
          <p:cNvSpPr/>
          <p:nvPr/>
        </p:nvSpPr>
        <p:spPr>
          <a:xfrm>
            <a:off x="594360" y="6638544"/>
            <a:ext cx="3200400" cy="182880"/>
          </a:xfrm>
          <a:prstGeom prst="rect">
            <a:avLst/>
          </a:prstGeom>
          <a:noFill/>
          <a:ln/>
        </p:spPr>
        <p:txBody>
          <a:bodyPr wrap="square" lIns="0" tIns="0" rIns="0" bIns="0" rtlCol="0" anchor="ctr"/>
          <a:lstStyle/>
          <a:p>
            <a:pPr indent="0" marL="0">
              <a:buNone/>
            </a:pPr>
            <a:r>
              <a:rPr lang="en-US" sz="700" dirty="0">
                <a:solidFill>
                  <a:srgbClr val="7F7F7F"/>
                </a:solidFill>
                <a:latin typeface="Arial" pitchFamily="34" charset="0"/>
                <a:ea typeface="Arial" pitchFamily="34" charset="-122"/>
                <a:cs typeface="Arial" pitchFamily="34" charset="-120"/>
              </a:rPr>
              <a:t>Cộng đồng - Toàn diện - Ưu việt</a:t>
            </a:r>
            <a:endParaRPr lang="en-US" sz="700" dirty="0"/>
          </a:p>
        </p:txBody>
      </p:sp>
      <p:sp>
        <p:nvSpPr>
          <p:cNvPr id="8" name="Shape 4"/>
          <p:cNvSpPr/>
          <p:nvPr/>
        </p:nvSpPr>
        <p:spPr>
          <a:xfrm>
            <a:off x="2011680" y="6638544"/>
            <a:ext cx="8351215" cy="0"/>
          </a:xfrm>
          <a:prstGeom prst="line">
            <a:avLst/>
          </a:prstGeom>
          <a:noFill/>
          <a:ln w="15875">
            <a:solidFill>
              <a:srgbClr val="01B0F1"/>
            </a:solidFill>
            <a:prstDash val="solid"/>
          </a:ln>
        </p:spPr>
      </p:sp>
      <p:sp>
        <p:nvSpPr>
          <p:cNvPr id="9" name="Text 5"/>
          <p:cNvSpPr/>
          <p:nvPr/>
        </p:nvSpPr>
        <p:spPr>
          <a:xfrm>
            <a:off x="10362895" y="6473952"/>
            <a:ext cx="1554480" cy="256032"/>
          </a:xfrm>
          <a:prstGeom prst="rect">
            <a:avLst/>
          </a:prstGeom>
          <a:noFill/>
          <a:ln/>
        </p:spPr>
        <p:txBody>
          <a:bodyPr wrap="square" lIns="0" tIns="0" rIns="0" bIns="0" rtlCol="0" anchor="t"/>
          <a:lstStyle/>
          <a:p>
            <a:pPr algn="r" indent="0" marL="0">
              <a:buNone/>
            </a:pPr>
            <a:r>
              <a:rPr lang="en-US" sz="1100" b="1" dirty="0">
                <a:solidFill>
                  <a:srgbClr val="01B0F1"/>
                </a:solidFill>
                <a:latin typeface="Arial" pitchFamily="34" charset="0"/>
                <a:ea typeface="Arial" pitchFamily="34" charset="-122"/>
                <a:cs typeface="Arial" pitchFamily="34" charset="-120"/>
              </a:rPr>
              <a:t>www.ctu.edu.vn</a:t>
            </a:r>
            <a:endParaRPr lang="en-US" sz="1100" dirty="0"/>
          </a:p>
        </p:txBody>
      </p:sp>
      <p:sp>
        <p:nvSpPr>
          <p:cNvPr id="10" name="Text 6"/>
          <p:cNvSpPr/>
          <p:nvPr/>
        </p:nvSpPr>
        <p:spPr>
          <a:xfrm>
            <a:off x="11871655" y="6473952"/>
            <a:ext cx="274320" cy="256032"/>
          </a:xfrm>
          <a:prstGeom prst="rect">
            <a:avLst/>
          </a:prstGeom>
          <a:solidFill>
            <a:srgbClr val="01B0F1"/>
          </a:solid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12</a:t>
            </a:r>
            <a:endParaRPr lang="en-US" sz="1000" dirty="0"/>
          </a:p>
        </p:txBody>
      </p:sp>
      <p:pic>
        <p:nvPicPr>
          <p:cNvPr id="11" name="Image 2" descr="chart_response_time_v2.png">    </p:cNvPr>
          <p:cNvPicPr>
            <a:picLocks noChangeAspect="1"/>
          </p:cNvPicPr>
          <p:nvPr/>
        </p:nvPicPr>
        <p:blipFill>
          <a:blip r:embed="rId3"/>
          <a:srcRect l="0" r="0" t="0" b="0"/>
          <a:stretch/>
        </p:blipFill>
        <p:spPr>
          <a:xfrm>
            <a:off x="502920" y="1097280"/>
            <a:ext cx="5486400" cy="2496312"/>
          </a:xfrm>
          <a:prstGeom prst="rect">
            <a:avLst/>
          </a:prstGeom>
        </p:spPr>
      </p:pic>
      <p:pic>
        <p:nvPicPr>
          <p:cNvPr id="12" name="Image 3" descr="chart_precision_v2.png">    </p:cNvPr>
          <p:cNvPicPr>
            <a:picLocks noChangeAspect="1"/>
          </p:cNvPicPr>
          <p:nvPr/>
        </p:nvPicPr>
        <p:blipFill>
          <a:blip r:embed="rId4"/>
          <a:srcRect l="0" r="0" t="0" b="0"/>
          <a:stretch/>
        </p:blipFill>
        <p:spPr>
          <a:xfrm>
            <a:off x="6172200" y="1097280"/>
            <a:ext cx="5486400" cy="2496312"/>
          </a:xfrm>
          <a:prstGeom prst="rect">
            <a:avLst/>
          </a:prstGeom>
        </p:spPr>
      </p:pic>
      <p:pic>
        <p:nvPicPr>
          <p:cNvPr id="13" name="Image 4" descr="chart_response_time_v2.png">    </p:cNvPr>
          <p:cNvPicPr>
            <a:picLocks noChangeAspect="1"/>
          </p:cNvPicPr>
          <p:nvPr/>
        </p:nvPicPr>
        <p:blipFill>
          <a:blip r:embed="rId5"/>
          <a:srcRect l="0" r="0" t="0" b="0"/>
          <a:stretch/>
        </p:blipFill>
        <p:spPr>
          <a:xfrm>
            <a:off x="502920" y="1097280"/>
            <a:ext cx="5486400" cy="2496312"/>
          </a:xfrm>
          <a:prstGeom prst="rect">
            <a:avLst/>
          </a:prstGeom>
        </p:spPr>
      </p:pic>
      <p:sp>
        <p:nvSpPr>
          <p:cNvPr id="14" name="Text 7"/>
          <p:cNvSpPr/>
          <p:nvPr/>
        </p:nvSpPr>
        <p:spPr>
          <a:xfrm>
            <a:off x="822960" y="3794760"/>
            <a:ext cx="10515600" cy="457200"/>
          </a:xfrm>
          <a:prstGeom prst="rect">
            <a:avLst/>
          </a:prstGeom>
          <a:noFill/>
          <a:ln/>
        </p:spPr>
        <p:txBody>
          <a:bodyPr wrap="square" rtlCol="0" anchor="ctr"/>
          <a:lstStyle/>
          <a:p>
            <a:pPr algn="ctr" indent="0" marL="0">
              <a:buNone/>
            </a:pPr>
            <a:r>
              <a:rPr lang="en-US" sz="1350" i="1" dirty="0">
                <a:solidFill>
                  <a:srgbClr val="7F7F7F"/>
                </a:solidFill>
                <a:latin typeface="Times New Roman" pitchFamily="34" charset="0"/>
                <a:ea typeface="Times New Roman" pitchFamily="34" charset="-122"/>
                <a:cs typeface="Times New Roman" pitchFamily="34" charset="-120"/>
              </a:rPr>
              <a:t>Hình trái: thời gian phản hồi theo từng truy vấn (ms). Hình phải: Precision@5 theo từng truy vấn.</a:t>
            </a:r>
            <a:endParaRPr lang="en-US" sz="1350" dirty="0"/>
          </a:p>
        </p:txBody>
      </p:sp>
      <p:sp>
        <p:nvSpPr>
          <p:cNvPr id="15" name="Text 8"/>
          <p:cNvSpPr/>
          <p:nvPr/>
        </p:nvSpPr>
        <p:spPr>
          <a:xfrm>
            <a:off x="822960" y="4343400"/>
            <a:ext cx="10515600" cy="2011680"/>
          </a:xfrm>
          <a:prstGeom prst="rect">
            <a:avLst/>
          </a:prstGeom>
          <a:noFill/>
          <a:ln/>
        </p:spPr>
        <p:txBody>
          <a:bodyPr wrap="square" rtlCol="0" anchor="t"/>
          <a:lstStyle/>
          <a:p>
            <a:pPr marL="228600" indent="-228600">
              <a:spcAft>
                <a:spcPts val="800"/>
              </a:spcAft>
              <a:buSzPct val="100000"/>
              <a:buChar char="▪"/>
            </a:pPr>
            <a:r>
              <a:rPr lang="en-US" sz="1500" dirty="0">
                <a:solidFill>
                  <a:srgbClr val="000000"/>
                </a:solidFill>
                <a:latin typeface="Times New Roman" pitchFamily="34" charset="0"/>
                <a:ea typeface="Times New Roman" pitchFamily="34" charset="-122"/>
                <a:cs typeface="Times New Roman" pitchFamily="34" charset="-120"/>
              </a:rPr>
              <a:t>Cả 2 phương pháp đều nhanh hơn ngưỡng yêu cầu 1000ms hàng chục đến hàng trăm lần.</a:t>
            </a:r>
            <a:endParaRPr lang="en-US" sz="1500" dirty="0"/>
          </a:p>
          <a:p>
            <a:pPr marL="228600" indent="-228600">
              <a:spcAft>
                <a:spcPts val="800"/>
              </a:spcAft>
              <a:buSzPct val="100000"/>
              <a:buChar char="▪"/>
            </a:pPr>
            <a:r>
              <a:rPr lang="en-US" sz="1500" dirty="0">
                <a:solidFill>
                  <a:srgbClr val="000000"/>
                </a:solidFill>
                <a:latin typeface="Times New Roman" pitchFamily="34" charset="0"/>
                <a:ea typeface="Times New Roman" pitchFamily="34" charset="-122"/>
                <a:cs typeface="Times New Roman" pitchFamily="34" charset="-120"/>
              </a:rPr>
              <a:t>SBERT tốn thêm ~7ms/truy vấn do phải encode câu hỏi qua mạng neural trước khi so khớp.</a:t>
            </a:r>
            <a:endParaRPr lang="en-US" sz="1500" dirty="0"/>
          </a:p>
          <a:p>
            <a:pPr marL="228600" indent="-228600">
              <a:spcAft>
                <a:spcPts val="800"/>
              </a:spcAft>
              <a:buSzPct val="100000"/>
              <a:buChar char="▪"/>
            </a:pPr>
            <a:r>
              <a:rPr lang="en-US" sz="1500" dirty="0">
                <a:solidFill>
                  <a:srgbClr val="000000"/>
                </a:solidFill>
                <a:latin typeface="Times New Roman" pitchFamily="34" charset="0"/>
                <a:ea typeface="Times New Roman" pitchFamily="34" charset="-122"/>
                <a:cs typeface="Times New Roman" pitchFamily="34" charset="-120"/>
              </a:rPr>
              <a:t>Chi phí xây chỉ mục là khác biệt lớn nhất khi dữ liệu tăng: TF-IDF 346,8ms so với SBERT 38,12 giây.</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logo_big.png">    </p:cNvPr>
          <p:cNvPicPr>
            <a:picLocks noChangeAspect="1"/>
          </p:cNvPicPr>
          <p:nvPr/>
        </p:nvPicPr>
        <p:blipFill>
          <a:blip r:embed="rId1"/>
          <a:stretch>
            <a:fillRect/>
          </a:stretch>
        </p:blipFill>
        <p:spPr>
          <a:xfrm>
            <a:off x="164592" y="128016"/>
            <a:ext cx="960120" cy="960120"/>
          </a:xfrm>
          <a:prstGeom prst="rect">
            <a:avLst/>
          </a:prstGeom>
        </p:spPr>
      </p:pic>
      <p:sp>
        <p:nvSpPr>
          <p:cNvPr id="3" name="Text 0"/>
          <p:cNvSpPr/>
          <p:nvPr/>
        </p:nvSpPr>
        <p:spPr>
          <a:xfrm>
            <a:off x="1371600" y="109728"/>
            <a:ext cx="10545775" cy="777240"/>
          </a:xfrm>
          <a:prstGeom prst="rect">
            <a:avLst/>
          </a:prstGeom>
          <a:noFill/>
          <a:ln/>
        </p:spPr>
        <p:txBody>
          <a:bodyPr wrap="square" lIns="0" tIns="0" rIns="0" bIns="0" rtlCol="0" anchor="ctr"/>
          <a:lstStyle/>
          <a:p>
            <a:pPr algn="ctr" indent="0" marL="0">
              <a:buNone/>
            </a:pPr>
            <a:r>
              <a:rPr lang="en-US" sz="2600" b="1" dirty="0">
                <a:solidFill>
                  <a:srgbClr val="4472C4"/>
                </a:solidFill>
                <a:latin typeface="Times New Roman" pitchFamily="34" charset="0"/>
                <a:ea typeface="Times New Roman" pitchFamily="34" charset="-122"/>
                <a:cs typeface="Times New Roman" pitchFamily="34" charset="-120"/>
              </a:rPr>
              <a:t>KẾT LUẬN &amp; HƯỚNG PHÁT TRIỂN</a:t>
            </a:r>
            <a:endParaRPr lang="en-US" sz="2600" dirty="0"/>
          </a:p>
        </p:txBody>
      </p:sp>
      <p:sp>
        <p:nvSpPr>
          <p:cNvPr id="4" name="Shape 1"/>
          <p:cNvSpPr/>
          <p:nvPr/>
        </p:nvSpPr>
        <p:spPr>
          <a:xfrm>
            <a:off x="1371600" y="932688"/>
            <a:ext cx="10545775" cy="0"/>
          </a:xfrm>
          <a:prstGeom prst="line">
            <a:avLst/>
          </a:prstGeom>
          <a:noFill/>
          <a:ln w="19050">
            <a:solidFill>
              <a:srgbClr val="4472C4"/>
            </a:solidFill>
            <a:prstDash val="solid"/>
          </a:ln>
        </p:spPr>
      </p:sp>
      <p:pic>
        <p:nvPicPr>
          <p:cNvPr id="5" name="Image 1" descr="logo_small.png">    </p:cNvPr>
          <p:cNvPicPr>
            <a:picLocks noChangeAspect="1"/>
          </p:cNvPicPr>
          <p:nvPr/>
        </p:nvPicPr>
        <p:blipFill>
          <a:blip r:embed="rId2"/>
          <a:stretch>
            <a:fillRect/>
          </a:stretch>
        </p:blipFill>
        <p:spPr>
          <a:xfrm>
            <a:off x="256032" y="6473952"/>
            <a:ext cx="292608" cy="292608"/>
          </a:xfrm>
          <a:prstGeom prst="rect">
            <a:avLst/>
          </a:prstGeom>
        </p:spPr>
      </p:pic>
      <p:sp>
        <p:nvSpPr>
          <p:cNvPr id="6" name="Text 2"/>
          <p:cNvSpPr/>
          <p:nvPr/>
        </p:nvSpPr>
        <p:spPr>
          <a:xfrm>
            <a:off x="594360" y="6437376"/>
            <a:ext cx="3200400" cy="219456"/>
          </a:xfrm>
          <a:prstGeom prst="rect">
            <a:avLst/>
          </a:prstGeom>
          <a:noFill/>
          <a:ln/>
        </p:spPr>
        <p:txBody>
          <a:bodyPr wrap="square" lIns="0" tIns="0" rIns="0" bIns="0" rtlCol="0" anchor="t"/>
          <a:lstStyle/>
          <a:p>
            <a:pPr indent="0" marL="0">
              <a:buNone/>
            </a:pPr>
            <a:r>
              <a:rPr lang="en-US" sz="1200" b="1" dirty="0">
                <a:solidFill>
                  <a:srgbClr val="4472C4"/>
                </a:solidFill>
                <a:latin typeface="Times New Roman" pitchFamily="34" charset="0"/>
                <a:ea typeface="Times New Roman" pitchFamily="34" charset="-122"/>
                <a:cs typeface="Times New Roman" pitchFamily="34" charset="-120"/>
              </a:rPr>
              <a:t>ĐẠI HỌC CẦN THƠ</a:t>
            </a:r>
            <a:endParaRPr lang="en-US" sz="1200" dirty="0"/>
          </a:p>
        </p:txBody>
      </p:sp>
      <p:sp>
        <p:nvSpPr>
          <p:cNvPr id="7" name="Text 3"/>
          <p:cNvSpPr/>
          <p:nvPr/>
        </p:nvSpPr>
        <p:spPr>
          <a:xfrm>
            <a:off x="594360" y="6638544"/>
            <a:ext cx="3200400" cy="182880"/>
          </a:xfrm>
          <a:prstGeom prst="rect">
            <a:avLst/>
          </a:prstGeom>
          <a:noFill/>
          <a:ln/>
        </p:spPr>
        <p:txBody>
          <a:bodyPr wrap="square" lIns="0" tIns="0" rIns="0" bIns="0" rtlCol="0" anchor="ctr"/>
          <a:lstStyle/>
          <a:p>
            <a:pPr indent="0" marL="0">
              <a:buNone/>
            </a:pPr>
            <a:r>
              <a:rPr lang="en-US" sz="700" dirty="0">
                <a:solidFill>
                  <a:srgbClr val="7F7F7F"/>
                </a:solidFill>
                <a:latin typeface="Arial" pitchFamily="34" charset="0"/>
                <a:ea typeface="Arial" pitchFamily="34" charset="-122"/>
                <a:cs typeface="Arial" pitchFamily="34" charset="-120"/>
              </a:rPr>
              <a:t>Cộng đồng - Toàn diện - Ưu việt</a:t>
            </a:r>
            <a:endParaRPr lang="en-US" sz="700" dirty="0"/>
          </a:p>
        </p:txBody>
      </p:sp>
      <p:sp>
        <p:nvSpPr>
          <p:cNvPr id="8" name="Shape 4"/>
          <p:cNvSpPr/>
          <p:nvPr/>
        </p:nvSpPr>
        <p:spPr>
          <a:xfrm>
            <a:off x="2011680" y="6638544"/>
            <a:ext cx="8351215" cy="0"/>
          </a:xfrm>
          <a:prstGeom prst="line">
            <a:avLst/>
          </a:prstGeom>
          <a:noFill/>
          <a:ln w="15875">
            <a:solidFill>
              <a:srgbClr val="01B0F1"/>
            </a:solidFill>
            <a:prstDash val="solid"/>
          </a:ln>
        </p:spPr>
      </p:sp>
      <p:sp>
        <p:nvSpPr>
          <p:cNvPr id="9" name="Text 5"/>
          <p:cNvSpPr/>
          <p:nvPr/>
        </p:nvSpPr>
        <p:spPr>
          <a:xfrm>
            <a:off x="10362895" y="6473952"/>
            <a:ext cx="1554480" cy="256032"/>
          </a:xfrm>
          <a:prstGeom prst="rect">
            <a:avLst/>
          </a:prstGeom>
          <a:noFill/>
          <a:ln/>
        </p:spPr>
        <p:txBody>
          <a:bodyPr wrap="square" lIns="0" tIns="0" rIns="0" bIns="0" rtlCol="0" anchor="t"/>
          <a:lstStyle/>
          <a:p>
            <a:pPr algn="r" indent="0" marL="0">
              <a:buNone/>
            </a:pPr>
            <a:r>
              <a:rPr lang="en-US" sz="1100" b="1" dirty="0">
                <a:solidFill>
                  <a:srgbClr val="01B0F1"/>
                </a:solidFill>
                <a:latin typeface="Arial" pitchFamily="34" charset="0"/>
                <a:ea typeface="Arial" pitchFamily="34" charset="-122"/>
                <a:cs typeface="Arial" pitchFamily="34" charset="-120"/>
              </a:rPr>
              <a:t>www.ctu.edu.vn</a:t>
            </a:r>
            <a:endParaRPr lang="en-US" sz="1100" dirty="0"/>
          </a:p>
        </p:txBody>
      </p:sp>
      <p:sp>
        <p:nvSpPr>
          <p:cNvPr id="10" name="Text 6"/>
          <p:cNvSpPr/>
          <p:nvPr/>
        </p:nvSpPr>
        <p:spPr>
          <a:xfrm>
            <a:off x="11871655" y="6473952"/>
            <a:ext cx="274320" cy="256032"/>
          </a:xfrm>
          <a:prstGeom prst="rect">
            <a:avLst/>
          </a:prstGeom>
          <a:solidFill>
            <a:srgbClr val="01B0F1"/>
          </a:solid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13</a:t>
            </a:r>
            <a:endParaRPr lang="en-US" sz="1000" dirty="0"/>
          </a:p>
        </p:txBody>
      </p:sp>
      <p:sp>
        <p:nvSpPr>
          <p:cNvPr id="11" name="Text 7"/>
          <p:cNvSpPr/>
          <p:nvPr/>
        </p:nvSpPr>
        <p:spPr>
          <a:xfrm>
            <a:off x="822960" y="1188720"/>
            <a:ext cx="10515600" cy="411480"/>
          </a:xfrm>
          <a:prstGeom prst="rect">
            <a:avLst/>
          </a:prstGeom>
          <a:noFill/>
          <a:ln/>
        </p:spPr>
        <p:txBody>
          <a:bodyPr wrap="square" rtlCol="0" anchor="ctr"/>
          <a:lstStyle/>
          <a:p>
            <a:pPr indent="0" marL="0">
              <a:buNone/>
            </a:pPr>
            <a:r>
              <a:rPr lang="en-US" sz="2000" b="1" dirty="0">
                <a:solidFill>
                  <a:srgbClr val="4472C4"/>
                </a:solidFill>
                <a:latin typeface="Times New Roman" pitchFamily="34" charset="0"/>
                <a:ea typeface="Times New Roman" pitchFamily="34" charset="-122"/>
                <a:cs typeface="Times New Roman" pitchFamily="34" charset="-120"/>
              </a:rPr>
              <a:t>Kết luận</a:t>
            </a:r>
            <a:endParaRPr lang="en-US" sz="2000" dirty="0"/>
          </a:p>
        </p:txBody>
      </p:sp>
      <p:sp>
        <p:nvSpPr>
          <p:cNvPr id="12" name="Text 8"/>
          <p:cNvSpPr/>
          <p:nvPr/>
        </p:nvSpPr>
        <p:spPr>
          <a:xfrm>
            <a:off x="822960" y="1691640"/>
            <a:ext cx="10515600" cy="2468880"/>
          </a:xfrm>
          <a:prstGeom prst="rect">
            <a:avLst/>
          </a:prstGeom>
          <a:noFill/>
          <a:ln/>
        </p:spPr>
        <p:txBody>
          <a:bodyPr wrap="square" rtlCol="0" anchor="t"/>
          <a:lstStyle/>
          <a:p>
            <a:pPr marL="228600" indent="-228600">
              <a:spcAft>
                <a:spcPts val="1200"/>
              </a:spcAft>
              <a:buSzPct val="100000"/>
              <a:buChar char="▪"/>
            </a:pPr>
            <a:r>
              <a:rPr lang="en-US" sz="1700" dirty="0">
                <a:solidFill>
                  <a:srgbClr val="000000"/>
                </a:solidFill>
                <a:latin typeface="Times New Roman" pitchFamily="34" charset="0"/>
                <a:ea typeface="Times New Roman" pitchFamily="34" charset="-122"/>
                <a:cs typeface="Times New Roman" pitchFamily="34" charset="-120"/>
              </a:rPr>
              <a:t>Đã cài đặt đầy đủ chức năng nền tảng kiểu Stack Overflow với cơ chế phân quyền theo reputation bám sát thực tế.</a:t>
            </a:r>
            <a:endParaRPr lang="en-US" sz="1700" dirty="0"/>
          </a:p>
          <a:p>
            <a:pPr marL="228600" indent="-228600">
              <a:spcAft>
                <a:spcPts val="1200"/>
              </a:spcAft>
              <a:buSzPct val="100000"/>
              <a:buChar char="▪"/>
            </a:pPr>
            <a:r>
              <a:rPr lang="en-US" sz="1700" dirty="0">
                <a:solidFill>
                  <a:srgbClr val="000000"/>
                </a:solidFill>
                <a:latin typeface="Times New Roman" pitchFamily="34" charset="0"/>
                <a:ea typeface="Times New Roman" pitchFamily="34" charset="-122"/>
                <a:cs typeface="Times New Roman" pitchFamily="34" charset="-120"/>
              </a:rPr>
              <a:t>Chức năng đặc thù — tìm kiếm ngữ nghĩa — đã hoàn chỉnh cả 2 phương pháp TF-IDF và SBERT, kiểm thử thật trên 5.969 câu hỏi.</a:t>
            </a:r>
            <a:endParaRPr lang="en-US" sz="1700" dirty="0"/>
          </a:p>
          <a:p>
            <a:pPr marL="228600" indent="-228600">
              <a:spcAft>
                <a:spcPts val="1200"/>
              </a:spcAft>
              <a:buSzPct val="100000"/>
              <a:buChar char="▪"/>
            </a:pPr>
            <a:r>
              <a:rPr lang="en-US" sz="1700" dirty="0">
                <a:solidFill>
                  <a:srgbClr val="000000"/>
                </a:solidFill>
                <a:latin typeface="Times New Roman" pitchFamily="34" charset="0"/>
                <a:ea typeface="Times New Roman" pitchFamily="34" charset="-122"/>
                <a:cs typeface="Times New Roman" pitchFamily="34" charset="-120"/>
              </a:rPr>
              <a:t>Cả 2 phương pháp đều đạt yêu cầu thời gian phản hồi &lt; 1 giây với biên độ rất lớn.</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logo_big.png">    </p:cNvPr>
          <p:cNvPicPr>
            <a:picLocks noChangeAspect="1"/>
          </p:cNvPicPr>
          <p:nvPr/>
        </p:nvPicPr>
        <p:blipFill>
          <a:blip r:embed="rId1"/>
          <a:stretch>
            <a:fillRect/>
          </a:stretch>
        </p:blipFill>
        <p:spPr>
          <a:xfrm>
            <a:off x="164592" y="128016"/>
            <a:ext cx="960120" cy="960120"/>
          </a:xfrm>
          <a:prstGeom prst="rect">
            <a:avLst/>
          </a:prstGeom>
        </p:spPr>
      </p:pic>
      <p:sp>
        <p:nvSpPr>
          <p:cNvPr id="3" name="Text 0"/>
          <p:cNvSpPr/>
          <p:nvPr/>
        </p:nvSpPr>
        <p:spPr>
          <a:xfrm>
            <a:off x="1371600" y="109728"/>
            <a:ext cx="10545775" cy="777240"/>
          </a:xfrm>
          <a:prstGeom prst="rect">
            <a:avLst/>
          </a:prstGeom>
          <a:noFill/>
          <a:ln/>
        </p:spPr>
        <p:txBody>
          <a:bodyPr wrap="square" lIns="0" tIns="0" rIns="0" bIns="0" rtlCol="0" anchor="ctr"/>
          <a:lstStyle/>
          <a:p>
            <a:pPr algn="ctr" indent="0" marL="0">
              <a:buNone/>
            </a:pPr>
            <a:r>
              <a:rPr lang="en-US" sz="2600" b="1" dirty="0">
                <a:solidFill>
                  <a:srgbClr val="4472C4"/>
                </a:solidFill>
                <a:latin typeface="Times New Roman" pitchFamily="34" charset="0"/>
                <a:ea typeface="Times New Roman" pitchFamily="34" charset="-122"/>
                <a:cs typeface="Times New Roman" pitchFamily="34" charset="-120"/>
              </a:rPr>
              <a:t>KẾT LUẬN &amp; HƯỚNG PHÁT TRIỂN</a:t>
            </a:r>
            <a:endParaRPr lang="en-US" sz="2600" dirty="0"/>
          </a:p>
        </p:txBody>
      </p:sp>
      <p:sp>
        <p:nvSpPr>
          <p:cNvPr id="4" name="Shape 1"/>
          <p:cNvSpPr/>
          <p:nvPr/>
        </p:nvSpPr>
        <p:spPr>
          <a:xfrm>
            <a:off x="1371600" y="932688"/>
            <a:ext cx="10545775" cy="0"/>
          </a:xfrm>
          <a:prstGeom prst="line">
            <a:avLst/>
          </a:prstGeom>
          <a:noFill/>
          <a:ln w="19050">
            <a:solidFill>
              <a:srgbClr val="4472C4"/>
            </a:solidFill>
            <a:prstDash val="solid"/>
          </a:ln>
        </p:spPr>
      </p:sp>
      <p:pic>
        <p:nvPicPr>
          <p:cNvPr id="5" name="Image 1" descr="logo_small.png">    </p:cNvPr>
          <p:cNvPicPr>
            <a:picLocks noChangeAspect="1"/>
          </p:cNvPicPr>
          <p:nvPr/>
        </p:nvPicPr>
        <p:blipFill>
          <a:blip r:embed="rId2"/>
          <a:stretch>
            <a:fillRect/>
          </a:stretch>
        </p:blipFill>
        <p:spPr>
          <a:xfrm>
            <a:off x="256032" y="6473952"/>
            <a:ext cx="292608" cy="292608"/>
          </a:xfrm>
          <a:prstGeom prst="rect">
            <a:avLst/>
          </a:prstGeom>
        </p:spPr>
      </p:pic>
      <p:sp>
        <p:nvSpPr>
          <p:cNvPr id="6" name="Text 2"/>
          <p:cNvSpPr/>
          <p:nvPr/>
        </p:nvSpPr>
        <p:spPr>
          <a:xfrm>
            <a:off x="594360" y="6437376"/>
            <a:ext cx="3200400" cy="219456"/>
          </a:xfrm>
          <a:prstGeom prst="rect">
            <a:avLst/>
          </a:prstGeom>
          <a:noFill/>
          <a:ln/>
        </p:spPr>
        <p:txBody>
          <a:bodyPr wrap="square" lIns="0" tIns="0" rIns="0" bIns="0" rtlCol="0" anchor="t"/>
          <a:lstStyle/>
          <a:p>
            <a:pPr indent="0" marL="0">
              <a:buNone/>
            </a:pPr>
            <a:r>
              <a:rPr lang="en-US" sz="1200" b="1" dirty="0">
                <a:solidFill>
                  <a:srgbClr val="4472C4"/>
                </a:solidFill>
                <a:latin typeface="Times New Roman" pitchFamily="34" charset="0"/>
                <a:ea typeface="Times New Roman" pitchFamily="34" charset="-122"/>
                <a:cs typeface="Times New Roman" pitchFamily="34" charset="-120"/>
              </a:rPr>
              <a:t>ĐẠI HỌC CẦN THƠ</a:t>
            </a:r>
            <a:endParaRPr lang="en-US" sz="1200" dirty="0"/>
          </a:p>
        </p:txBody>
      </p:sp>
      <p:sp>
        <p:nvSpPr>
          <p:cNvPr id="7" name="Text 3"/>
          <p:cNvSpPr/>
          <p:nvPr/>
        </p:nvSpPr>
        <p:spPr>
          <a:xfrm>
            <a:off x="594360" y="6638544"/>
            <a:ext cx="3200400" cy="182880"/>
          </a:xfrm>
          <a:prstGeom prst="rect">
            <a:avLst/>
          </a:prstGeom>
          <a:noFill/>
          <a:ln/>
        </p:spPr>
        <p:txBody>
          <a:bodyPr wrap="square" lIns="0" tIns="0" rIns="0" bIns="0" rtlCol="0" anchor="ctr"/>
          <a:lstStyle/>
          <a:p>
            <a:pPr indent="0" marL="0">
              <a:buNone/>
            </a:pPr>
            <a:r>
              <a:rPr lang="en-US" sz="700" dirty="0">
                <a:solidFill>
                  <a:srgbClr val="7F7F7F"/>
                </a:solidFill>
                <a:latin typeface="Arial" pitchFamily="34" charset="0"/>
                <a:ea typeface="Arial" pitchFamily="34" charset="-122"/>
                <a:cs typeface="Arial" pitchFamily="34" charset="-120"/>
              </a:rPr>
              <a:t>Cộng đồng - Toàn diện - Ưu việt</a:t>
            </a:r>
            <a:endParaRPr lang="en-US" sz="700" dirty="0"/>
          </a:p>
        </p:txBody>
      </p:sp>
      <p:sp>
        <p:nvSpPr>
          <p:cNvPr id="8" name="Shape 4"/>
          <p:cNvSpPr/>
          <p:nvPr/>
        </p:nvSpPr>
        <p:spPr>
          <a:xfrm>
            <a:off x="2011680" y="6638544"/>
            <a:ext cx="8351215" cy="0"/>
          </a:xfrm>
          <a:prstGeom prst="line">
            <a:avLst/>
          </a:prstGeom>
          <a:noFill/>
          <a:ln w="15875">
            <a:solidFill>
              <a:srgbClr val="01B0F1"/>
            </a:solidFill>
            <a:prstDash val="solid"/>
          </a:ln>
        </p:spPr>
      </p:sp>
      <p:sp>
        <p:nvSpPr>
          <p:cNvPr id="9" name="Text 5"/>
          <p:cNvSpPr/>
          <p:nvPr/>
        </p:nvSpPr>
        <p:spPr>
          <a:xfrm>
            <a:off x="10362895" y="6473952"/>
            <a:ext cx="1554480" cy="256032"/>
          </a:xfrm>
          <a:prstGeom prst="rect">
            <a:avLst/>
          </a:prstGeom>
          <a:noFill/>
          <a:ln/>
        </p:spPr>
        <p:txBody>
          <a:bodyPr wrap="square" lIns="0" tIns="0" rIns="0" bIns="0" rtlCol="0" anchor="t"/>
          <a:lstStyle/>
          <a:p>
            <a:pPr algn="r" indent="0" marL="0">
              <a:buNone/>
            </a:pPr>
            <a:r>
              <a:rPr lang="en-US" sz="1100" b="1" dirty="0">
                <a:solidFill>
                  <a:srgbClr val="01B0F1"/>
                </a:solidFill>
                <a:latin typeface="Arial" pitchFamily="34" charset="0"/>
                <a:ea typeface="Arial" pitchFamily="34" charset="-122"/>
                <a:cs typeface="Arial" pitchFamily="34" charset="-120"/>
              </a:rPr>
              <a:t>www.ctu.edu.vn</a:t>
            </a:r>
            <a:endParaRPr lang="en-US" sz="1100" dirty="0"/>
          </a:p>
        </p:txBody>
      </p:sp>
      <p:sp>
        <p:nvSpPr>
          <p:cNvPr id="10" name="Text 6"/>
          <p:cNvSpPr/>
          <p:nvPr/>
        </p:nvSpPr>
        <p:spPr>
          <a:xfrm>
            <a:off x="11871655" y="6473952"/>
            <a:ext cx="274320" cy="256032"/>
          </a:xfrm>
          <a:prstGeom prst="rect">
            <a:avLst/>
          </a:prstGeom>
          <a:solidFill>
            <a:srgbClr val="01B0F1"/>
          </a:solid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14</a:t>
            </a:r>
            <a:endParaRPr lang="en-US" sz="1000" dirty="0"/>
          </a:p>
        </p:txBody>
      </p:sp>
      <p:sp>
        <p:nvSpPr>
          <p:cNvPr id="11" name="Text 7"/>
          <p:cNvSpPr/>
          <p:nvPr/>
        </p:nvSpPr>
        <p:spPr>
          <a:xfrm>
            <a:off x="822960" y="1188720"/>
            <a:ext cx="10515600" cy="365760"/>
          </a:xfrm>
          <a:prstGeom prst="rect">
            <a:avLst/>
          </a:prstGeom>
          <a:noFill/>
          <a:ln/>
        </p:spPr>
        <p:txBody>
          <a:bodyPr wrap="square" rtlCol="0" anchor="ctr"/>
          <a:lstStyle/>
          <a:p>
            <a:pPr indent="0" marL="0">
              <a:buNone/>
            </a:pPr>
            <a:r>
              <a:rPr lang="en-US" sz="1900" b="1" dirty="0">
                <a:solidFill>
                  <a:srgbClr val="4472C4"/>
                </a:solidFill>
                <a:latin typeface="Times New Roman" pitchFamily="34" charset="0"/>
                <a:ea typeface="Times New Roman" pitchFamily="34" charset="-122"/>
                <a:cs typeface="Times New Roman" pitchFamily="34" charset="-120"/>
              </a:rPr>
              <a:t>Hạn chế</a:t>
            </a:r>
            <a:endParaRPr lang="en-US" sz="1900" dirty="0"/>
          </a:p>
        </p:txBody>
      </p:sp>
      <p:sp>
        <p:nvSpPr>
          <p:cNvPr id="12" name="Text 8"/>
          <p:cNvSpPr/>
          <p:nvPr/>
        </p:nvSpPr>
        <p:spPr>
          <a:xfrm>
            <a:off x="822960" y="1600200"/>
            <a:ext cx="10515600" cy="1371600"/>
          </a:xfrm>
          <a:prstGeom prst="rect">
            <a:avLst/>
          </a:prstGeom>
          <a:noFill/>
          <a:ln/>
        </p:spPr>
        <p:txBody>
          <a:bodyPr wrap="square" rtlCol="0" anchor="t"/>
          <a:lstStyle/>
          <a:p>
            <a:pPr marL="228600" indent="-228600">
              <a:spcAft>
                <a:spcPts val="800"/>
              </a:spcAft>
              <a:buSzPct val="100000"/>
              <a:buChar char="▪"/>
            </a:pPr>
            <a:r>
              <a:rPr lang="en-US" sz="1600" dirty="0">
                <a:solidFill>
                  <a:srgbClr val="000000"/>
                </a:solidFill>
                <a:latin typeface="Times New Roman" pitchFamily="34" charset="0"/>
                <a:ea typeface="Times New Roman" pitchFamily="34" charset="-122"/>
                <a:cs typeface="Times New Roman" pitchFamily="34" charset="-120"/>
              </a:rPr>
              <a:t>Model SBERT đa ngôn ngữ chưa được fine-tune riêng cho từ vựng kỹ thuật tiếng Việt.</a:t>
            </a:r>
            <a:endParaRPr lang="en-US" sz="1600" dirty="0"/>
          </a:p>
          <a:p>
            <a:pPr marL="228600" indent="-228600">
              <a:spcAft>
                <a:spcPts val="800"/>
              </a:spcAft>
              <a:buSzPct val="100000"/>
              <a:buChar char="▪"/>
            </a:pPr>
            <a:r>
              <a:rPr lang="en-US" sz="1600" dirty="0">
                <a:solidFill>
                  <a:srgbClr val="000000"/>
                </a:solidFill>
                <a:latin typeface="Times New Roman" pitchFamily="34" charset="0"/>
                <a:ea typeface="Times New Roman" pitchFamily="34" charset="-122"/>
                <a:cs typeface="Times New Roman" pitchFamily="34" charset="-120"/>
              </a:rPr>
              <a:t>Bộ truy vấn kiểm thử còn nhỏ (15 câu) — cần mở rộng để đánh giá chắc chắn hơn.</a:t>
            </a:r>
            <a:endParaRPr lang="en-US" sz="1600" dirty="0"/>
          </a:p>
        </p:txBody>
      </p:sp>
      <p:sp>
        <p:nvSpPr>
          <p:cNvPr id="13" name="Text 9"/>
          <p:cNvSpPr/>
          <p:nvPr/>
        </p:nvSpPr>
        <p:spPr>
          <a:xfrm>
            <a:off x="822960" y="3246120"/>
            <a:ext cx="10515600" cy="365760"/>
          </a:xfrm>
          <a:prstGeom prst="rect">
            <a:avLst/>
          </a:prstGeom>
          <a:noFill/>
          <a:ln/>
        </p:spPr>
        <p:txBody>
          <a:bodyPr wrap="square" rtlCol="0" anchor="ctr"/>
          <a:lstStyle/>
          <a:p>
            <a:pPr indent="0" marL="0">
              <a:buNone/>
            </a:pPr>
            <a:r>
              <a:rPr lang="en-US" sz="1900" b="1" dirty="0">
                <a:solidFill>
                  <a:srgbClr val="4472C4"/>
                </a:solidFill>
                <a:latin typeface="Times New Roman" pitchFamily="34" charset="0"/>
                <a:ea typeface="Times New Roman" pitchFamily="34" charset="-122"/>
                <a:cs typeface="Times New Roman" pitchFamily="34" charset="-120"/>
              </a:rPr>
              <a:t>Hướng phát triển</a:t>
            </a:r>
            <a:endParaRPr lang="en-US" sz="1900" dirty="0"/>
          </a:p>
        </p:txBody>
      </p:sp>
      <p:sp>
        <p:nvSpPr>
          <p:cNvPr id="14" name="Text 10"/>
          <p:cNvSpPr/>
          <p:nvPr/>
        </p:nvSpPr>
        <p:spPr>
          <a:xfrm>
            <a:off x="822960" y="3657600"/>
            <a:ext cx="10515600" cy="2377440"/>
          </a:xfrm>
          <a:prstGeom prst="rect">
            <a:avLst/>
          </a:prstGeom>
          <a:noFill/>
          <a:ln/>
        </p:spPr>
        <p:txBody>
          <a:bodyPr wrap="square" rtlCol="0" anchor="t"/>
          <a:lstStyle/>
          <a:p>
            <a:pPr marL="228600" indent="-228600">
              <a:spcAft>
                <a:spcPts val="800"/>
              </a:spcAft>
              <a:buSzPct val="100000"/>
              <a:buChar char="▪"/>
            </a:pPr>
            <a:r>
              <a:rPr lang="en-US" sz="1600" dirty="0">
                <a:solidFill>
                  <a:srgbClr val="000000"/>
                </a:solidFill>
                <a:latin typeface="Times New Roman" pitchFamily="34" charset="0"/>
                <a:ea typeface="Times New Roman" pitchFamily="34" charset="-122"/>
                <a:cs typeface="Times New Roman" pitchFamily="34" charset="-120"/>
              </a:rPr>
              <a:t>Fine-tune SBERT riêng cho tiếng Việt kỹ thuật (vd. keepitreal/vietnamese-sbert).</a:t>
            </a:r>
            <a:endParaRPr lang="en-US" sz="1600" dirty="0"/>
          </a:p>
          <a:p>
            <a:pPr marL="228600" indent="-228600">
              <a:spcAft>
                <a:spcPts val="800"/>
              </a:spcAft>
              <a:buSzPct val="100000"/>
              <a:buChar char="▪"/>
            </a:pPr>
            <a:r>
              <a:rPr lang="en-US" sz="1600" dirty="0">
                <a:solidFill>
                  <a:srgbClr val="000000"/>
                </a:solidFill>
                <a:latin typeface="Times New Roman" pitchFamily="34" charset="0"/>
                <a:ea typeface="Times New Roman" pitchFamily="34" charset="-122"/>
                <a:cs typeface="Times New Roman" pitchFamily="34" charset="-120"/>
              </a:rPr>
              <a:t>Hybrid search: kết hợp TF-IDF và SBERT (re-rank top-K) thay vì chỉ dùng một phương pháp.</a:t>
            </a:r>
            <a:endParaRPr lang="en-US" sz="1600" dirty="0"/>
          </a:p>
          <a:p>
            <a:pPr marL="228600" indent="-228600">
              <a:spcAft>
                <a:spcPts val="800"/>
              </a:spcAft>
              <a:buSzPct val="100000"/>
              <a:buChar char="▪"/>
            </a:pPr>
            <a:r>
              <a:rPr lang="en-US" sz="1600" dirty="0">
                <a:solidFill>
                  <a:srgbClr val="000000"/>
                </a:solidFill>
                <a:latin typeface="Times New Roman" pitchFamily="34" charset="0"/>
                <a:ea typeface="Times New Roman" pitchFamily="34" charset="-122"/>
                <a:cs typeface="Times New Roman" pitchFamily="34" charset="-120"/>
              </a:rPr>
              <a:t>Khi dữ liệu vượt ngưỡng lớn: chuyển sang Vector Database chuyên dụng (Qdrant/MongoDB Atlas Vector Search) thay brute-force.</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1B0F1"/>
        </a:solidFill>
      </p:bgPr>
    </p:bg>
    <p:spTree>
      <p:nvGrpSpPr>
        <p:cNvPr id="1" name=""/>
        <p:cNvGrpSpPr/>
        <p:nvPr/>
      </p:nvGrpSpPr>
      <p:grpSpPr>
        <a:xfrm>
          <a:off x="0" y="0"/>
          <a:ext cx="0" cy="0"/>
          <a:chOff x="0" y="0"/>
          <a:chExt cx="0" cy="0"/>
        </a:xfrm>
      </p:grpSpPr>
      <p:sp>
        <p:nvSpPr>
          <p:cNvPr id="2" name="Text 0"/>
          <p:cNvSpPr/>
          <p:nvPr/>
        </p:nvSpPr>
        <p:spPr>
          <a:xfrm>
            <a:off x="914400" y="2468880"/>
            <a:ext cx="12191695" cy="914400"/>
          </a:xfrm>
          <a:prstGeom prst="rect">
            <a:avLst/>
          </a:prstGeom>
          <a:noFill/>
          <a:ln/>
        </p:spPr>
        <p:txBody>
          <a:bodyPr wrap="square" lIns="0" tIns="0" rIns="0" bIns="0" rtlCol="0" anchor="ctr"/>
          <a:lstStyle/>
          <a:p>
            <a:pPr algn="l" indent="0" marL="0">
              <a:buNone/>
            </a:pPr>
            <a:r>
              <a:rPr lang="en-US" sz="4400" b="1" dirty="0">
                <a:solidFill>
                  <a:srgbClr val="FFFFFF"/>
                </a:solidFill>
                <a:latin typeface="Times New Roman" pitchFamily="34" charset="0"/>
                <a:ea typeface="Times New Roman" pitchFamily="34" charset="-122"/>
                <a:cs typeface="Times New Roman" pitchFamily="34" charset="-120"/>
              </a:rPr>
              <a:t>CẢM ƠN</a:t>
            </a:r>
            <a:endParaRPr lang="en-US" sz="4400" dirty="0"/>
          </a:p>
        </p:txBody>
      </p:sp>
      <p:sp>
        <p:nvSpPr>
          <p:cNvPr id="3" name="Text 1"/>
          <p:cNvSpPr/>
          <p:nvPr/>
        </p:nvSpPr>
        <p:spPr>
          <a:xfrm>
            <a:off x="914400" y="3246120"/>
            <a:ext cx="10362895" cy="548640"/>
          </a:xfrm>
          <a:prstGeom prst="rect">
            <a:avLst/>
          </a:prstGeom>
          <a:noFill/>
          <a:ln/>
        </p:spPr>
        <p:txBody>
          <a:bodyPr wrap="square" rtlCol="0" anchor="ctr"/>
          <a:lstStyle/>
          <a:p>
            <a:pPr algn="l" indent="0" marL="0">
              <a:buNone/>
            </a:pPr>
            <a:r>
              <a:rPr lang="en-US" sz="2200" dirty="0">
                <a:solidFill>
                  <a:srgbClr val="FFFFFF"/>
                </a:solidFill>
                <a:latin typeface="Times New Roman" pitchFamily="34" charset="0"/>
                <a:ea typeface="Times New Roman" pitchFamily="34" charset="-122"/>
                <a:cs typeface="Times New Roman" pitchFamily="34" charset="-120"/>
              </a:rPr>
              <a:t>Thank you</a:t>
            </a:r>
            <a:endParaRPr lang="en-US" sz="2200" dirty="0"/>
          </a:p>
        </p:txBody>
      </p:sp>
      <p:pic>
        <p:nvPicPr>
          <p:cNvPr id="4" name="Image 0" descr="logo_small.png">    </p:cNvPr>
          <p:cNvPicPr>
            <a:picLocks noChangeAspect="1"/>
          </p:cNvPicPr>
          <p:nvPr/>
        </p:nvPicPr>
        <p:blipFill>
          <a:blip r:embed="rId1"/>
          <a:stretch>
            <a:fillRect/>
          </a:stretch>
        </p:blipFill>
        <p:spPr>
          <a:xfrm>
            <a:off x="457200" y="6400800"/>
            <a:ext cx="274320" cy="274320"/>
          </a:xfrm>
          <a:prstGeom prst="rect">
            <a:avLst/>
          </a:prstGeom>
        </p:spPr>
      </p:pic>
      <p:sp>
        <p:nvSpPr>
          <p:cNvPr id="5" name="Text 2"/>
          <p:cNvSpPr/>
          <p:nvPr/>
        </p:nvSpPr>
        <p:spPr>
          <a:xfrm>
            <a:off x="10180015" y="6400800"/>
            <a:ext cx="1828800" cy="274320"/>
          </a:xfrm>
          <a:prstGeom prst="rect">
            <a:avLst/>
          </a:prstGeom>
          <a:noFill/>
          <a:ln/>
        </p:spPr>
        <p:txBody>
          <a:bodyPr wrap="square" lIns="0" tIns="0" rIns="0" bIns="0" rtlCol="0" anchor="ctr"/>
          <a:lstStyle/>
          <a:p>
            <a:pPr algn="r" indent="0" marL="0">
              <a:buNone/>
            </a:pPr>
            <a:r>
              <a:rPr lang="en-US" sz="1100" b="1" dirty="0">
                <a:solidFill>
                  <a:srgbClr val="FFFFFF"/>
                </a:solidFill>
                <a:latin typeface="Arial" pitchFamily="34" charset="0"/>
                <a:ea typeface="Arial" pitchFamily="34" charset="-122"/>
                <a:cs typeface="Arial" pitchFamily="34" charset="-120"/>
              </a:rPr>
              <a:t>www.ctu.edu.vn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2026-08-24T01:34:00Z</dcterms:created>
  <dcterms:modified xsi:type="dcterms:W3CDTF">2026-08-24T01:34:00Z</dcterms:modified>
</cp:coreProperties>
</file>